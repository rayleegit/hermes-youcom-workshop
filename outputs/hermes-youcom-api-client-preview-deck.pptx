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6f91faec2487f" /><Relationship Type="http://schemas.openxmlformats.org/officeDocument/2006/relationships/extended-properties" Target="/docProps/app.xml" Id="Rb0a03a3f35dd48c7" /><Relationship Type="http://schemas.openxmlformats.org/officeDocument/2006/relationships/officeDocument" Target="/ppt/presentation.xml" Id="R3c593b0b5253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7d199d31c14655"/>
  </p:sldMasterIdLst>
  <p:notesMasterIdLst>
    <p:notesMasterId xmlns:r="http://schemas.openxmlformats.org/officeDocument/2006/relationships" r:id="Rc9bb7eb5524845db"/>
  </p:notesMasterIdLst>
  <p:sldIdLst>
    <p:sldId xmlns:r="http://schemas.openxmlformats.org/officeDocument/2006/relationships" id="256" r:id="R42c05107689546c7"/>
    <p:sldId xmlns:r="http://schemas.openxmlformats.org/officeDocument/2006/relationships" id="257" r:id="Redd4cb16e4d24153"/>
    <p:sldId xmlns:r="http://schemas.openxmlformats.org/officeDocument/2006/relationships" id="258" r:id="Rf30aa67819d74521"/>
    <p:sldId xmlns:r="http://schemas.openxmlformats.org/officeDocument/2006/relationships" id="259" r:id="R01ca08a9edba4f66"/>
    <p:sldId xmlns:r="http://schemas.openxmlformats.org/officeDocument/2006/relationships" id="260" r:id="R41607897518c4aca"/>
    <p:sldId xmlns:r="http://schemas.openxmlformats.org/officeDocument/2006/relationships" id="261" r:id="Rfe3af22b97f24d68"/>
    <p:sldId xmlns:r="http://schemas.openxmlformats.org/officeDocument/2006/relationships" id="262" r:id="R754bd3f2a7ca4c14"/>
    <p:sldId xmlns:r="http://schemas.openxmlformats.org/officeDocument/2006/relationships" id="263" r:id="Rafd6f9ead4a94932"/>
    <p:sldId xmlns:r="http://schemas.openxmlformats.org/officeDocument/2006/relationships" id="264" r:id="R5d6f6ad113394bd3"/>
    <p:sldId xmlns:r="http://schemas.openxmlformats.org/officeDocument/2006/relationships" id="265" r:id="Re5c5717f071c4ceb"/>
    <p:sldId xmlns:r="http://schemas.openxmlformats.org/officeDocument/2006/relationships" id="266" r:id="R6e45c170946d4156"/>
    <p:sldId xmlns:r="http://schemas.openxmlformats.org/officeDocument/2006/relationships" id="267" r:id="R3fb9c0a5ca194bc2"/>
    <p:sldId xmlns:r="http://schemas.openxmlformats.org/officeDocument/2006/relationships" id="268" r:id="Rd5aa51860421468a"/>
    <p:sldId xmlns:r="http://schemas.openxmlformats.org/officeDocument/2006/relationships" id="269" r:id="R2ceb0a30174647f2"/>
    <p:sldId xmlns:r="http://schemas.openxmlformats.org/officeDocument/2006/relationships" id="270" r:id="R613ff7ca70bb41b3"/>
    <p:sldId xmlns:r="http://schemas.openxmlformats.org/officeDocument/2006/relationships" id="271" r:id="Rbe05d5c5148044c0"/>
    <p:sldId xmlns:r="http://schemas.openxmlformats.org/officeDocument/2006/relationships" id="272" r:id="R12a842b077f145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3316670ef640c9" /><Relationship Type="http://schemas.openxmlformats.org/officeDocument/2006/relationships/slideMaster" Target="/ppt/slideMasters/slideMaster1.xml" Id="Rb67d199d31c14655" /><Relationship Type="http://schemas.openxmlformats.org/officeDocument/2006/relationships/notesMaster" Target="/ppt/notesMasters/notesMaster1.xml" Id="Rc9bb7eb5524845db" /><Relationship Type="http://schemas.openxmlformats.org/officeDocument/2006/relationships/presProps" Target="/ppt/presProps.xml" Id="R635419aa53524ac2" /><Relationship Type="http://schemas.openxmlformats.org/officeDocument/2006/relationships/tableStyles" Target="/ppt/tableStyles.xml" Id="Ra765268cbeb840a2" /><Relationship Type="http://schemas.openxmlformats.org/officeDocument/2006/relationships/slide" Target="/ppt/slides/slide1.xml" Id="R42c05107689546c7" /><Relationship Type="http://schemas.openxmlformats.org/officeDocument/2006/relationships/slide" Target="/ppt/slides/slide2.xml" Id="Redd4cb16e4d24153" /><Relationship Type="http://schemas.openxmlformats.org/officeDocument/2006/relationships/slide" Target="/ppt/slides/slide3.xml" Id="Rf30aa67819d74521" /><Relationship Type="http://schemas.openxmlformats.org/officeDocument/2006/relationships/slide" Target="/ppt/slides/slide4.xml" Id="R01ca08a9edba4f66" /><Relationship Type="http://schemas.openxmlformats.org/officeDocument/2006/relationships/slide" Target="/ppt/slides/slide5.xml" Id="R41607897518c4aca" /><Relationship Type="http://schemas.openxmlformats.org/officeDocument/2006/relationships/slide" Target="/ppt/slides/slide6.xml" Id="Rfe3af22b97f24d68" /><Relationship Type="http://schemas.openxmlformats.org/officeDocument/2006/relationships/slide" Target="/ppt/slides/slide7.xml" Id="R754bd3f2a7ca4c14" /><Relationship Type="http://schemas.openxmlformats.org/officeDocument/2006/relationships/slide" Target="/ppt/slides/slide8.xml" Id="Rafd6f9ead4a94932" /><Relationship Type="http://schemas.openxmlformats.org/officeDocument/2006/relationships/slide" Target="/ppt/slides/slide9.xml" Id="R5d6f6ad113394bd3" /><Relationship Type="http://schemas.openxmlformats.org/officeDocument/2006/relationships/slide" Target="/ppt/slides/slide10.xml" Id="Re5c5717f071c4ceb" /><Relationship Type="http://schemas.openxmlformats.org/officeDocument/2006/relationships/slide" Target="/ppt/slides/slide11.xml" Id="R6e45c170946d4156" /><Relationship Type="http://schemas.openxmlformats.org/officeDocument/2006/relationships/slide" Target="/ppt/slides/slide12.xml" Id="R3fb9c0a5ca194bc2" /><Relationship Type="http://schemas.openxmlformats.org/officeDocument/2006/relationships/slide" Target="/ppt/slides/slide13.xml" Id="Rd5aa51860421468a" /><Relationship Type="http://schemas.openxmlformats.org/officeDocument/2006/relationships/slide" Target="/ppt/slides/slide14.xml" Id="R2ceb0a30174647f2" /><Relationship Type="http://schemas.openxmlformats.org/officeDocument/2006/relationships/slide" Target="/ppt/slides/slide15.xml" Id="R613ff7ca70bb41b3" /><Relationship Type="http://schemas.openxmlformats.org/officeDocument/2006/relationships/slide" Target="/ppt/slides/slide16.xml" Id="Rbe05d5c5148044c0" /><Relationship Type="http://schemas.openxmlformats.org/officeDocument/2006/relationships/slide" Target="/ppt/slides/slide17.xml" Id="R12a842b077f1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90ea0b1637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2d1ce68324828" /><Relationship Type="http://schemas.openxmlformats.org/officeDocument/2006/relationships/notesMaster" Target="/ppt/notesMasters/notesMaster1.xml" Id="R07889bc3be204b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1940c6010d4095" /><Relationship Type="http://schemas.openxmlformats.org/officeDocument/2006/relationships/notesMaster" Target="/ppt/notesMasters/notesMaster1.xml" Id="Rb793c018e42748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3a56bdd7e54f4a" /><Relationship Type="http://schemas.openxmlformats.org/officeDocument/2006/relationships/notesMaster" Target="/ppt/notesMasters/notesMaster1.xml" Id="Rf1563761bb7343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cc957d1fdf44a1" /><Relationship Type="http://schemas.openxmlformats.org/officeDocument/2006/relationships/notesMaster" Target="/ppt/notesMasters/notesMaster1.xml" Id="Rd1b95b504d7b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5b0945e6ee4d7d" /><Relationship Type="http://schemas.openxmlformats.org/officeDocument/2006/relationships/notesMaster" Target="/ppt/notesMasters/notesMaster1.xml" Id="R97d3bda9c9a340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397c7c2ef24ced" /><Relationship Type="http://schemas.openxmlformats.org/officeDocument/2006/relationships/notesMaster" Target="/ppt/notesMasters/notesMaster1.xml" Id="Rd915fab463d9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27ee1971d9430a" /><Relationship Type="http://schemas.openxmlformats.org/officeDocument/2006/relationships/notesMaster" Target="/ppt/notesMasters/notesMaster1.xml" Id="R4293a4d0d0fa4d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4a33ec69a24bf0" /><Relationship Type="http://schemas.openxmlformats.org/officeDocument/2006/relationships/notesMaster" Target="/ppt/notesMasters/notesMaster1.xml" Id="R409a47c7be8d4a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c74b9731bf4623" /><Relationship Type="http://schemas.openxmlformats.org/officeDocument/2006/relationships/notesMaster" Target="/ppt/notesMasters/notesMaster1.xml" Id="R24a9da650b9345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82e45252614eaf" /><Relationship Type="http://schemas.openxmlformats.org/officeDocument/2006/relationships/notesMaster" Target="/ppt/notesMasters/notesMaster1.xml" Id="R96171218d3184e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f7cfbe18be47c3" /><Relationship Type="http://schemas.openxmlformats.org/officeDocument/2006/relationships/notesMaster" Target="/ppt/notesMasters/notesMaster1.xml" Id="Rf06c806f08b343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2064d1fa8f4c88" /><Relationship Type="http://schemas.openxmlformats.org/officeDocument/2006/relationships/notesMaster" Target="/ppt/notesMasters/notesMaster1.xml" Id="Rb434440c7dea43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7c2a14a1d849e3" /><Relationship Type="http://schemas.openxmlformats.org/officeDocument/2006/relationships/notesMaster" Target="/ppt/notesMasters/notesMaster1.xml" Id="Rd9c7b166a85e4b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826b8323ea41f6" /><Relationship Type="http://schemas.openxmlformats.org/officeDocument/2006/relationships/notesMaster" Target="/ppt/notesMasters/notesMaster1.xml" Id="R50b76a17ee3441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c0b2ccec064041" /><Relationship Type="http://schemas.openxmlformats.org/officeDocument/2006/relationships/notesMaster" Target="/ppt/notesMasters/notesMaster1.xml" Id="Rcd64b3f002df45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807afe58c74434" /><Relationship Type="http://schemas.openxmlformats.org/officeDocument/2006/relationships/notesMaster" Target="/ppt/notesMasters/notesMaster1.xml" Id="Rfbca6b3bd74e46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ad286ff94145b8" /><Relationship Type="http://schemas.openxmlformats.org/officeDocument/2006/relationships/notesMaster" Target="/ppt/notesMasters/notesMaster1.xml" Id="R8a873d29f9e3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6d8fa2353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ed9439c4b4511" /><Relationship Type="http://schemas.openxmlformats.org/officeDocument/2006/relationships/slideLayout" Target="/ppt/slideLayouts/slideLayout1.xml" Id="R73de12493ee146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e12493ee146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3eb3a35f74c43" /><Relationship Type="http://schemas.openxmlformats.org/officeDocument/2006/relationships/notesSlide" Target="/ppt/notesSlides/notesSlide1.xml" Id="R5a7ea38ec597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476c98404d38" /><Relationship Type="http://schemas.openxmlformats.org/officeDocument/2006/relationships/notesSlide" Target="/ppt/notesSlides/notesSlide2.xml" Id="Rca1574f29d8143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6ee54322e4f64" /><Relationship Type="http://schemas.openxmlformats.org/officeDocument/2006/relationships/notesSlide" Target="/ppt/notesSlides/notesSlide3.xml" Id="R8961a676a9864c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ffae3df74cd1" /><Relationship Type="http://schemas.openxmlformats.org/officeDocument/2006/relationships/notesSlide" Target="/ppt/notesSlides/notesSlide4.xml" Id="R2d1ab504de1542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a60ef23a04b18" /><Relationship Type="http://schemas.openxmlformats.org/officeDocument/2006/relationships/notesSlide" Target="/ppt/notesSlides/notesSlide5.xml" Id="Rcdd1cbe69e0e4c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2b9404b7445e3" /><Relationship Type="http://schemas.openxmlformats.org/officeDocument/2006/relationships/notesSlide" Target="/ppt/notesSlides/notesSlide6.xml" Id="R6f67fddbf2a143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1235336a14624" /><Relationship Type="http://schemas.openxmlformats.org/officeDocument/2006/relationships/notesSlide" Target="/ppt/notesSlides/notesSlide7.xml" Id="Rd1bdc56e14f4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f965b9b1f4ba9" /><Relationship Type="http://schemas.openxmlformats.org/officeDocument/2006/relationships/notesSlide" Target="/ppt/notesSlides/notesSlide8.xml" Id="R88e7fda9907149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3fe20f0bb4c5d" /><Relationship Type="http://schemas.openxmlformats.org/officeDocument/2006/relationships/notesSlide" Target="/ppt/notesSlides/notesSlide9.xml" Id="R566ef36fb80e45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fda7e894d4672" /><Relationship Type="http://schemas.openxmlformats.org/officeDocument/2006/relationships/notesSlide" Target="/ppt/notesSlides/notesSlide10.xml" Id="R11f882c74d7842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a6d31d5314de6" /><Relationship Type="http://schemas.openxmlformats.org/officeDocument/2006/relationships/notesSlide" Target="/ppt/notesSlides/notesSlide11.xml" Id="R70d1ebf0a3ca4f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00a5f07464714" /><Relationship Type="http://schemas.openxmlformats.org/officeDocument/2006/relationships/notesSlide" Target="/ppt/notesSlides/notesSlide12.xml" Id="R7893e40a205841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0b59feb614abc" /><Relationship Type="http://schemas.openxmlformats.org/officeDocument/2006/relationships/notesSlide" Target="/ppt/notesSlides/notesSlide13.xml" Id="Rb391d8d1d1ff41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f119bb554630" /><Relationship Type="http://schemas.openxmlformats.org/officeDocument/2006/relationships/notesSlide" Target="/ppt/notesSlides/notesSlide14.xml" Id="R0065a142445f4f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e8f0ebfd249be" /><Relationship Type="http://schemas.openxmlformats.org/officeDocument/2006/relationships/notesSlide" Target="/ppt/notesSlides/notesSlide15.xml" Id="R3d12084cd31944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87061bc6c4fc0" /><Relationship Type="http://schemas.openxmlformats.org/officeDocument/2006/relationships/notesSlide" Target="/ppt/notesSlides/notesSlide16.xml" Id="Rf4abd08700e742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55e6bf21e4e75" /><Relationship Type="http://schemas.openxmlformats.org/officeDocument/2006/relationships/notesSlide" Target="/ppt/notesSlides/notesSlide17.xml" Id="Re10f1e1f15a24d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88871-06F7-4E4E-B82B-563E6F7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78D52-EB23-4AFF-BA9E-C5859B29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79513-52DE-4266-9074-F3C5760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Client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0C82E-ECEF-425E-9827-98EBF7E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06C5B-697F-4C17-8EE9-28DD04C4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B0B"/>
                </a:solidFill>
              </a:defRPr>
            </a:pPr>
            <a:r>
              <a:rPr sz="4050" b="1">
                <a:solidFill>
                  <a:srgbClr val="0B0B0B"/>
                </a:solidFill>
              </a:rPr>
              <a:t>Hermes + You.com API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D17FF-6F4F-4609-8107-85AC1DB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A client-ready preview of a governed workflow workshop powered by Search, Contents, Research, and Hermes orchestration.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9E373-1721-4916-BEBF-5A4DF020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4A6D5-2F2F-4E33-A2E3-8800B25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B0B0B"/>
                </a:solidFill>
              </a:defRPr>
            </a:pPr>
            <a:r>
              <a:rPr sz="2175" b="0">
                <a:solidFill>
                  <a:srgbClr val="0B0B0B"/>
                </a:solidFill>
              </a:rPr>
              <a:t>Show the API evidence path, then show how Hermes turns it into a reusable workflow a team can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9FDFF-DBBD-43EA-AEC0-7BEE23D1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857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9CFD9-11FA-43E0-8F8C-203B0AC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382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Client sees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7BFC-59AC-48E4-9E13-B6EB2918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Live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2181D-F4E3-4057-8594-15D14DEA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API calls in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38F1C-59FD-4F10-A549-164F9BBC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Workflow packaging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6D231-B911-4C14-8421-5C3698CE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Admin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87D28-6BCA-4A4B-9B5C-F4F900A8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Two-week pilot</a:t>
            </a:r>
          </a:p>
        </p:txBody>
      </p:sp>
    </p:spTree>
    <p:extLst>
      <p:ext uri="{BB962C8B-B14F-4D97-AF65-F5344CB8AC3E}">
        <p14:creationId xmlns:p14="http://schemas.microsoft.com/office/powerpoint/2010/main" val="1405669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F6C2B8-C301-4A8A-818A-9E426E9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F0D22-F94A-406F-8393-2EF1F60D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C72A0-D5D2-41AD-89A0-D4A39026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Client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E9A43-90F6-4149-A550-4650D5F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A1B06-4EEA-4294-9188-0BEF3CC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client problem is not getting one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F50FD-4150-4E80-91E2-1F87F3A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harder part is making the answer repeatable, inspectable, and safe to run in a team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B8D57-88C7-4023-AAA6-EFCC839A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BBE0B-1F3D-4A9D-AD3E-F161DE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Typical AI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0D3DA-1FDC-4AF0-9D38-BD5E4985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One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44FC9-B73C-4B02-B71A-321A5E4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One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E0D05-506F-4676-B823-27DC54F4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Unclear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BFA26-5020-4A1C-AA23-C32D9294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4BA62-4B6B-41FA-85B0-2232625D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What teams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1C32B-D78F-4F1E-B758-75143F4B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Reusable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947B4-D590-415D-98C8-29EEF34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Governed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01C9E-E28E-47DE-9825-BCB031C0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339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Reviewable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BDFB1-F259-4DF6-8EE7-831411F4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A4315-ADEE-4C29-99DE-566930E8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Workshop 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88939-BC6D-4297-92C4-688D3C8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Build it 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9CEC2-3F45-4CE3-B460-2D2D28B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338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Package it in Hermes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B02CC-E928-46AD-9D77-16D04D17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Pilot it in two weeks</a:t>
            </a:r>
          </a:p>
        </p:txBody>
      </p:sp>
    </p:spTree>
    <p:extLst>
      <p:ext uri="{BB962C8B-B14F-4D97-AF65-F5344CB8AC3E}">
        <p14:creationId xmlns:p14="http://schemas.microsoft.com/office/powerpoint/2010/main" val="1381461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8676A-F684-42A2-A1EE-DB5BFA1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37E8-406D-4E06-958D-19070604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EA849-CFCA-46C8-9A62-E1DAEEF1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Client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D63A1-5621-40BB-9AB7-661046BB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0CD5D-0371-4558-ACC7-17E04BC9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One account name becomes a governed action brief.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B1883-D399-4BF2-B966-9775FB7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flagship demo gives clients a concrete workflow they can immediately imagine using.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271A-E2F8-4869-855E-7EE0805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4294F-6FCC-40F4-8210-408B08D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Company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4272B-802D-45E1-805D-606F5E0A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A73DD-BC0C-4496-9049-7B0DD888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90850"/>
            <a:ext cx="2857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5A354-8E68-435E-AA57-7C430F6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90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EA8"/>
                </a:solidFill>
              </a:defRPr>
            </a:pPr>
            <a:r>
              <a:rPr sz="1875" b="1">
                <a:solidFill>
                  <a:srgbClr val="1F5EA8"/>
                </a:solidFill>
              </a:rPr>
              <a:t>You.com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E31BA-38EE-46AC-A212-7AB5D3A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57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5EA8"/>
                </a:solidFill>
              </a:defRPr>
            </a:pPr>
            <a:r>
              <a:rPr sz="1350" b="0">
                <a:solidFill>
                  <a:srgbClr val="1F5EA8"/>
                </a:solidFill>
              </a:rPr>
              <a:t>Search, read, synthesize, cite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353D4-D500-4EA2-82B6-49CB67DE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CB239-7F1E-4F82-8ED7-A7C85C21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2857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9A9EB-3CDB-4592-8C9C-CD6E6D6D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0B0B"/>
                </a:solidFill>
              </a:defRPr>
            </a:pPr>
            <a:r>
              <a:rPr sz="1875" b="1">
                <a:solidFill>
                  <a:srgbClr val="0B0B0B"/>
                </a:solidFill>
              </a:rPr>
              <a:t>Hermes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8080A-C8E4-4620-A432-05653B1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576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Govern, package,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C9A5C-3C3A-460E-B70E-062BE41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Output: `/account-action-brief` with claims, sources, review notes, and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1832666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F3375-6EBA-4540-9EA2-854F68AE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C3D32-2FA7-48F4-9370-478AC5B4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07005-FF03-4F49-8E6E-95F6DA25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6A0D7-BE59-4D58-93A6-8106CA1E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4523-0CA4-4F1C-8B35-D8599C62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3884-E69C-47F0-A598-C3EFE800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668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The workshop has one simple spine.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C24D0-5246-441F-993E-5A612A1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You.com supplies the live intelligence layer. Hermes turns the evidence path into an operational workflow.</a:t>
            </a:r>
          </a:p>
        </p:txBody>
      </p:sp>
    </p:spTree>
    <p:extLst>
      <p:ext uri="{BB962C8B-B14F-4D97-AF65-F5344CB8AC3E}">
        <p14:creationId xmlns:p14="http://schemas.microsoft.com/office/powerpoint/2010/main" val="1021746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EA4712-EE3D-45D1-A5C5-6BF50939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61E2-3317-4EAF-B08C-274A8D07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CF129-29D0-423F-BB6B-7014E4FD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You.com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07426-01B2-4A9D-9241-4978D2E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6CC13-5F7C-4331-9114-1427AC41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API stack maps to distinct workflow jobs.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CDCEB-2F90-417A-A462-C970913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the core client education: each API has a purpose, and Hermes decides when to call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D31E1-2922-4BD8-ADE3-CFDE1CE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381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C3FD4-7136-4325-A7F9-2BCC95C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Web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1D870-825C-43DF-B250-1B28D20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Current web and news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B5FD1-19EC-46BD-A78E-2B81964A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URLs, snippets,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5C1D2-87E3-4146-A64D-83A3915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2381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A20E5-A356-432A-9C67-288FFF5B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55"/>
                </a:solidFill>
              </a:defRPr>
            </a:pPr>
            <a:r>
              <a:rPr sz="1650" b="1">
                <a:solidFill>
                  <a:srgbClr val="1F7A55"/>
                </a:solidFill>
              </a:rPr>
              <a:t>Contents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5F86E-19F7-418E-8C06-37252281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Clean page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35EFE-9513-4F94-80F7-6A5B4A0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386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Markdown, HTML,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EB4F9-DBBE-49E7-B1F3-85003C8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2381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B50C0-D4FA-48C8-966B-A622FD9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41A5"/>
                </a:solidFill>
              </a:defRPr>
            </a:pPr>
            <a:r>
              <a:rPr sz="1650" b="1">
                <a:solidFill>
                  <a:srgbClr val="6541A5"/>
                </a:solidFill>
              </a:rPr>
              <a:t>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60C05-C85B-4F6D-ABEA-B4733DDB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Cited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617FF-D1DD-4DFF-89E8-EED65CAB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Answer plus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3879D-25AF-4F52-BA52-947D309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381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FB4BC-76DA-4E90-84C2-94DD586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Finance 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C328D-6DD7-429F-8871-A5DADEB4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Public-company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4A748-A83A-441C-BF45-3BB384D5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386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Earnings, filings, market signals</a:t>
            </a:r>
          </a:p>
        </p:txBody>
      </p:sp>
    </p:spTree>
    <p:extLst>
      <p:ext uri="{BB962C8B-B14F-4D97-AF65-F5344CB8AC3E}">
        <p14:creationId xmlns:p14="http://schemas.microsoft.com/office/powerpoint/2010/main" val="179077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E32BE-3479-4F76-A2B9-1FE7A9B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59516-D33D-4773-82FD-BE987BB3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A20D6-AD98-4DBD-A77F-F3710E6C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You.com APIs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A7246-843B-4353-8A63-8F255DF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84B36-75C7-47F2-A86F-8522158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decision matrix keeps the demo crisp.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68D21-001A-4B78-B92B-E1BC686E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Clients should understand when each API is the right tool before seeing the live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3F3A3-47B4-4FA4-9BD6-3F8EB62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51AA7-3197-47B9-9E3F-AE370D12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6D710-7ABE-4249-B835-6C3F0647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Need to discover sources: use Web Search.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E4DC1-6CF3-4CF7-B2DF-C813C102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77D0C-88A2-47AC-87B1-58A2FD4C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65824-3C12-409A-BF60-FC93EDA9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Already trust a URL and need clean page text: use Contents.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E54BF-A5E8-4860-B15D-84C73422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ACA06-7B1D-475B-ACBD-A777476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7299A-2DDE-4C1F-8FE4-0E5CAA3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Need a cited synthesis across sources: use Research.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3CDB1-5EB6-4868-ADF5-3B6CBEE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044F5-3F3C-426D-A77C-E01F52E1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89249-86E3-45E0-A516-2D77E1E0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Need public-company financial context: use Finance Research.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2A06E-F0B4-43FA-89B7-8BBACBB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EF416-68ED-4DB2-979E-EEEF914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16066-3D14-494A-B769-23EDF6C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Need agent-accessible web tools without custom integration: use MCP.</a:t>
            </a:r>
          </a:p>
        </p:txBody>
      </p:sp>
    </p:spTree>
    <p:extLst>
      <p:ext uri="{BB962C8B-B14F-4D97-AF65-F5344CB8AC3E}">
        <p14:creationId xmlns:p14="http://schemas.microsoft.com/office/powerpoint/2010/main" val="141374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441F3-7032-4CB6-AF2C-BAEE4F2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3EB7-4770-4AAD-8971-4061BF7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D632B-ECA6-4338-8B44-45E5A4F4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9F3E2-B2CA-4F69-8393-31FD965E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A125B-10ED-4790-A02E-396393A5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demo video shows the evidence path before the AI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443F-1270-4EBD-BE55-A79F3131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That is what makes the workflow feel trustworthy instead of magical.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BE141-EB41-47F4-932F-5E20039C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5E4D3-D2E8-4D9E-9AAB-D46B456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68552-C6D6-4260-8491-C64E0541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C0E3F-672D-496A-BDA9-58689AD8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Discover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8EDAB-7E5C-4690-A1EB-17C062D5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4C2DF-FF44-45A6-B508-51B6312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C40F0-AE78-4A7C-AF07-CE6CF71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480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Contents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C7E60-8762-4E25-804D-F5ADAC27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D0380-7B07-4705-8990-4358933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23E5A-E703-4817-9836-4EE0980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AA42A-CAF1-40A6-A3DB-38083B07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C284B-C0FD-446B-B747-74C660EE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Synthesize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C360C-2AF5-4994-974B-B672182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E3315-CDBB-4650-8114-1F72A09D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38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F10B2-7973-49C2-8337-187121BA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Hermes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4C924-B9E0-4C6E-8F15-C8B2E9E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Package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1DF98-463D-4AE0-BBAA-E47B11DD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9B043-B853-49C0-A2E0-CD5203B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B0B"/>
                </a:solidFill>
              </a:defRPr>
            </a:pPr>
            <a:r>
              <a:rPr sz="1725" b="1">
                <a:solidFill>
                  <a:srgbClr val="0B0B0B"/>
                </a:solidFill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62C58-9EF2-4691-AF8E-12F71565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48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Approve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E2311-FECD-4700-9FD5-E684E83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Record this as a 5-7 minute module, then embed or play it during the client workshop.</a:t>
            </a:r>
          </a:p>
        </p:txBody>
      </p:sp>
    </p:spTree>
    <p:extLst>
      <p:ext uri="{BB962C8B-B14F-4D97-AF65-F5344CB8AC3E}">
        <p14:creationId xmlns:p14="http://schemas.microsoft.com/office/powerpoint/2010/main" val="58453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5E5BD-540D-4F09-8845-A36C9B2A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E663-3C39-45EA-B27C-507DEDA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D5B7F-B80A-47B4-A4A4-31E04C79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API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4D8A-3763-48CD-A220-1228A1F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E7D62-9C49-46CE-9448-3308936F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Web Search is the source-discovery moment.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4606C-ADF4-494A-90AE-6D85360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Show the client structured web and news results before anything is synthesized.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C7B4A-6389-43A6-AD3C-3987E08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8F945-1151-45D2-B96F-0740A553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GET https://ydc-index.io/v1/search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query=ServiceNow recent AI agents announcements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count=5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freshness=year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46871-3D79-4B08-9BB9-40983F1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07419-9E82-40FD-BA51-6427EBC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What to highlight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5CDDF-CF81-4829-80E7-F1EB9A49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results.web and results.news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E6881-5F88-4B30-BB6E-0ADF80B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title, url, snippets, page_age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00710-525F-4EAD-B0DF-0C162D7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include, exclude, and boost domains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390B0-4911-4757-97B5-E237A17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livecrawl when page content is needed</a:t>
            </a:r>
          </a:p>
        </p:txBody>
      </p:sp>
    </p:spTree>
    <p:extLst>
      <p:ext uri="{BB962C8B-B14F-4D97-AF65-F5344CB8AC3E}">
        <p14:creationId xmlns:p14="http://schemas.microsoft.com/office/powerpoint/2010/main" val="2011821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C948F-AF1E-4D26-A981-632B81E4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82E4E-303B-4B44-9E4D-92B41A0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25DC7-0F3F-45AC-B4CE-1B87060F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API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E7C79-074D-49E1-934B-FD44140F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EB09D-A7E4-4776-81CD-F600CC65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Contents turns chosen URLs into usable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A97B0-0949-4D44-9DA0-6F4AF591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where the demo teaches source inspection, not just search.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938AA-7DAF-4C2A-9DFC-4014A1BF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DA01-AC71-4B31-BDBA-81B77E8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POST https://ydc-index.io/v1/contents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"urls": ["https://..."],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"formats": ["markdown", "metadata"],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"max_age": 86400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D2658-7BDB-413E-84DB-D30E02E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F4A6A-6073-4088-84DA-CF53EBD8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396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55"/>
                </a:solidFill>
              </a:defRPr>
            </a:pPr>
            <a:r>
              <a:rPr sz="1650" b="1">
                <a:solidFill>
                  <a:srgbClr val="1F7A55"/>
                </a:solidFill>
              </a:rPr>
              <a:t>What to highlight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275BE-FCAC-419D-9AF1-ADE518B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Takes URLs, not queries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3F32A-04D3-49E3-A66C-10896C17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Returns clean page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FA184-0D2B-45CB-99FD-57DA9D6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Metadata supports source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4EF6A-0C76-4B18-B8BA-9341898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396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max_age helps manage freshness</a:t>
            </a:r>
          </a:p>
        </p:txBody>
      </p:sp>
    </p:spTree>
    <p:extLst>
      <p:ext uri="{BB962C8B-B14F-4D97-AF65-F5344CB8AC3E}">
        <p14:creationId xmlns:p14="http://schemas.microsoft.com/office/powerpoint/2010/main" val="683443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BE646-063B-4B72-8195-8D226A11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FDE71-633F-4CAF-9769-7D233665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2EEFA-9A6F-4BB1-9C88-43DA38E4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API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7D2A3-7165-49BB-9442-2E27958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85F71-6E1B-45AB-B6E2-D84AAC09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Research is the cited synthesis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8804-0DC7-42E4-9D8C-51F2D2E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Use it when the workflow needs reasoning across sources rather than raw retrieval.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4879E-2A4B-4753-BA0E-9B789EC4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2197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64DBE-6D43-40AA-BF1F-A19CABC2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8387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POST https://api.you.com/v1/research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"input": "What are the key signals?",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"research_effort": "standard",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"source_control": {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"freshness": "year",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"boost_domains": ["servicenow.com"]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FBB0B-3A54-4B7C-948C-C4519BAD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133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6B7B1-F406-4DD3-A3FB-E9823622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86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41A5"/>
                </a:solidFill>
              </a:defRPr>
            </a:pPr>
            <a:r>
              <a:rPr sz="1650" b="1">
                <a:solidFill>
                  <a:srgbClr val="6541A5"/>
                </a:solidFill>
              </a:rPr>
              <a:t>What to highlight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9B51-3889-4656-AD91-23A3DCDE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433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research_effort controls 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5CE2A-FEC4-4FB0-BD00-9F36394C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43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source_control guides domains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6CF37-1F61-4C9D-8568-64D49518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content and sources feed Hermes</a:t>
            </a:r>
          </a:p>
        </p:txBody>
      </p:sp>
    </p:spTree>
    <p:extLst>
      <p:ext uri="{BB962C8B-B14F-4D97-AF65-F5344CB8AC3E}">
        <p14:creationId xmlns:p14="http://schemas.microsoft.com/office/powerpoint/2010/main" val="1814092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92940-9D2F-45D5-B76A-89FBE1F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2B1D6-DB3D-4B2F-A9E5-3713B6AA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ED8B7-18D2-4374-9D78-A0C5ADD3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API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DEDBF-AE3A-4507-B7FC-DC8CA7E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05962-DC7B-415E-B8EB-2BECBE1C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Structured Research makes the workflow operational.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C0DFA-6D2F-4D85-A3ED-9C3E134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Predictable JSON fields can map directly into a workflow card, CRM draft, or review checklist.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44E0F-AD73-4C26-8F48-61006BD3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4953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5F537-D84B-45DB-9D31-38ACEB0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572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"output_schema":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"type": "object",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"properties": 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"signals": [{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"signal": "...",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"why_it_matters": "...",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"recommended_action": "..."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}]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3670C-8764-414B-94A3-26A9334C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2B4D0-00C2-4368-B1E0-3E4FCAD8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 fielded response reduces manual cleanup.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14E70-F1F9-42AC-89B8-01E3E62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81E8E-E1E7-44AC-AB99-AF8C5970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Sources remain available separately for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35CC5-EDB2-4CEA-99DF-DD00BAD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B647D-1CA5-4272-B9AE-7EF2E223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Hermes can package the result as a repeatable skill or playbook.</a:t>
            </a:r>
          </a:p>
        </p:txBody>
      </p:sp>
    </p:spTree>
    <p:extLst>
      <p:ext uri="{BB962C8B-B14F-4D97-AF65-F5344CB8AC3E}">
        <p14:creationId xmlns:p14="http://schemas.microsoft.com/office/powerpoint/2010/main" val="8049581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C4ADA-3160-458B-AAD1-71BC4EE0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9D546-F76E-46CE-90E6-9121375F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810F-FE5E-400C-BC9B-13CF141F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API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31B51-ED2D-4662-89C6-2F60BEE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E7321-DE63-448C-9B30-19C86E2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Finance Research is an optional credibility booster.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396B4-A469-4D02-AFF3-DDDE746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For public-company account briefs, it adds earnings, filings, and market context without changing the core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437A2-11A3-48DA-97EF-0840EB04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009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26A00-1E13-48D6-A32E-7A446F9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Use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F2008-2E1A-435B-8DE4-C2DF0AC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Public-company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4C04-956F-4D54-93E9-952E1D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Earnings or filings matter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C8424-30D7-4127-8A2A-1E90072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Market context shapes the meeting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A538E-370D-4F88-AE78-31BF1626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3009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19110-E7B6-47D5-BE66-6821B7F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Do not overuse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6F196-7CE1-4F03-856F-D6D68284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195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Skip for private accounts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D1BD6-23C8-4380-A02C-B220473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9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Keep regulated decisions reviewed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7D5BD-0B9A-42A7-BEE0-8AF4800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196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Treat citations as verification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C597D-A0C2-4C58-9AAC-863C3FB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009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0530D-DBB3-4FBF-A2EC-9BC84DA7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Demo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DDBD4-5A7C-4143-98F3-B43E6F22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"This is optional, but useful when financial context changes the account strategy."</a:t>
            </a:r>
          </a:p>
        </p:txBody>
      </p:sp>
    </p:spTree>
    <p:extLst>
      <p:ext uri="{BB962C8B-B14F-4D97-AF65-F5344CB8AC3E}">
        <p14:creationId xmlns:p14="http://schemas.microsoft.com/office/powerpoint/2010/main" val="12295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3F511-5921-42FB-A710-526D8E47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FE046-A776-46D6-9CDF-8B7A2FB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A0C32-4A59-468B-86CD-80EB7556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Section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03357-3451-4CAB-9B8D-0AD37219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A3E5E-6E47-453C-B443-E007B26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79FE4-AF2C-4B31-A81D-1F60859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6680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B0B0B"/>
                </a:solidFill>
              </a:defRPr>
            </a:pPr>
            <a:r>
              <a:rPr sz="3750" b="1">
                <a:solidFill>
                  <a:srgbClr val="0B0B0B"/>
                </a:solidFill>
              </a:rPr>
              <a:t>Hermes turns the API path into something a team can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C316-DA7F-4B95-8B6C-8E51F38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The client should see the move from technical API calls to an owned, governed workflow.</a:t>
            </a:r>
          </a:p>
        </p:txBody>
      </p:sp>
    </p:spTree>
    <p:extLst>
      <p:ext uri="{BB962C8B-B14F-4D97-AF65-F5344CB8AC3E}">
        <p14:creationId xmlns:p14="http://schemas.microsoft.com/office/powerpoint/2010/main" val="18349328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E7BC0-DB13-4555-A7FC-3F716C5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C071F-5312-4840-8726-512B268D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5F87E-1BF4-4851-A667-10D3064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Hermes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503AA-23DD-4C45-B896-7DACA0D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7F73D-03CF-4A1F-899E-0CC65845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Hermes workflow card makes the demo pilot-ready.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034BC-41EC-45AC-B3D3-C023112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This is the client-facing artifact that turns interest into implementation.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C3B5C-F9CD-4D1B-9AF7-AEDB366E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81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9BEF3-E29D-45AD-9E32-888D53A2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EE110-64D4-4AA4-99DD-CBA0DA46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/account-action-brief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51F64-C1DA-447C-80ED-F5A20F5B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Trigger: meeting prep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50CF4-69AF-4D8F-B87A-1EC3DAB0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Owner: account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A9F6D-1AFF-4B1D-BE6A-08D00FE2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3181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8F531-8362-4346-9BBD-17357EA2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Allowed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645AD-C1EE-4847-8828-8976C584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You.com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01C85-B2DF-481A-B8B0-631A2C9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Contents and 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4BE55-B5A9-4A87-B3A1-C082E36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43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Approved internal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638D2-7BF8-4E78-B290-4163C000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3181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E650C-9ECD-442C-B033-F6540B65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Review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08113-4A47-45F0-A772-CADF5C73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Sources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C0BB5-AAB2-441E-B395-24BF02D5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Internal vs external labels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EDDB0-A909-41E4-BA10-BB81EABD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Human approval before outreach</a:t>
            </a:r>
          </a:p>
        </p:txBody>
      </p:sp>
    </p:spTree>
    <p:extLst>
      <p:ext uri="{BB962C8B-B14F-4D97-AF65-F5344CB8AC3E}">
        <p14:creationId xmlns:p14="http://schemas.microsoft.com/office/powerpoint/2010/main" val="20800729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E1EAD-C7BC-43F5-80B1-EE1E0922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56330-A120-4CA5-BF56-FA4AFD37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F395F-259A-4E70-9643-A641C7AA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AB28D-6D64-4FAD-AC92-D037CF9F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2B9F7-0089-41C2-8F00-356BC56A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Governance is a design choice, not an afterthought.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CC58F-23B7-4170-AB82-06B0D349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The workshop makes admins comfortable because tool access, credentials, data boundaries, and review gates are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F168F-2F55-4A7C-BDD9-BAC6126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94F57-224C-4A7D-8A4D-6425F203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C9680-8844-4FE8-AEFA-9AB93CA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Which You.com tools can Hermes call for this workflow?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F8A33-CB9C-46E8-9174-4865C02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CB86D-B127-4257-AD45-7AF30384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4B576-A7C2-4F9D-AC99-20938BA7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Which domains or sources are preferred, allowed, or blocked?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6A1EE-AC94-4830-BDBC-1278CCD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D3993-F5FD-4F06-B3BC-9FA1CDCA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38981-C949-4E52-B5BC-C71D02C1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Where do credentials live, and who owns rotation?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B80A-612D-46DB-8A24-3ADF6AB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FFA8A-4BBF-4703-BF81-A4C06DD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721FC-2625-4455-88EB-0C500672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What data is internal-only, and what can be used externally?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D0780-5675-423C-BAC3-31F7DFE7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C2F14-72E4-450D-BA82-3C4200A5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EDE98-1085-49B7-8ACD-03170D58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918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0B0B"/>
                </a:solidFill>
              </a:defRPr>
            </a:pPr>
            <a:r>
              <a:rPr sz="1425" b="0">
                <a:solidFill>
                  <a:srgbClr val="0B0B0B"/>
                </a:solidFill>
              </a:rPr>
              <a:t>Which actions are draft-only until a reviewer approves?</a:t>
            </a:r>
          </a:p>
        </p:txBody>
      </p:sp>
    </p:spTree>
    <p:extLst>
      <p:ext uri="{BB962C8B-B14F-4D97-AF65-F5344CB8AC3E}">
        <p14:creationId xmlns:p14="http://schemas.microsoft.com/office/powerpoint/2010/main" val="1822722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3C898-FFF1-43C8-B46A-03E26D6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72DB9-BB33-4B50-BFDD-EBEA2BA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ECA65-A554-4B23-9E9A-9EE7637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0FC2A-CEE4-4910-95E6-BB8EC4A4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44E73-3F46-4C58-BA23-80F8E36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client leaves with a short pilot, not a vague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774EE-31A3-446B-A38B-A1CF37A2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A5A"/>
                </a:solidFill>
              </a:defRPr>
            </a:pPr>
            <a:r>
              <a:rPr sz="1650" b="0">
                <a:solidFill>
                  <a:srgbClr val="5A5A5A"/>
                </a:solidFill>
              </a:rPr>
              <a:t>A two-week pilot keeps scope small enough to govern and concrete enough to measure.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53B4-FBB2-4AC6-BFB3-1A255E36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72129-61E9-47E3-A77B-73AE09BF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BB564-78C7-4D2C-9C9D-A6D8DC8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Pick 5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7A48F-654C-4CD9-8E10-ADF382F4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Pick 20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1ED6E-747B-4CFC-82BF-91D9FC8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Confirm tools and review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335ED-2D9C-41F2-B5A5-7B702DD2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3EBCF-B83C-472F-B7C5-C926F5FB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602C-9EB0-41E6-8DF1-BD4FEDF4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Run 10 briefs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06E94-D8B9-4B50-865F-8FD43C93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576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Require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88E00-A241-4C7A-9C7A-EE060384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Track source quality and edits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0B9A8-508F-4263-B84A-7DCCB96B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28575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0BB25-8493-4228-9764-81E3667F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</a:defRPr>
            </a:pPr>
            <a:r>
              <a:rPr sz="1650" b="1">
                <a:solidFill>
                  <a:srgbClr val="0B0B0B"/>
                </a:solidFill>
              </a:rPr>
              <a:t>Week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4A64D-C5CD-4A0E-9AA0-F13145F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Run 25 briefs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AFC88-3B3D-4508-86B0-6101D2D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576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Draft CRM or review handoffs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837EC-F7D0-4AF2-A3F9-A8A8DFC0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577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Decide expand, revise, or stop</a:t>
            </a:r>
          </a:p>
        </p:txBody>
      </p:sp>
    </p:spTree>
    <p:extLst>
      <p:ext uri="{BB962C8B-B14F-4D97-AF65-F5344CB8AC3E}">
        <p14:creationId xmlns:p14="http://schemas.microsoft.com/office/powerpoint/2010/main" val="933687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206284-9FF2-43C8-A3F0-9C50737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HERMES + YOU.COM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3D205-5F7D-4AB4-A565-A0B77B6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C7F8F-DB42-4262-B7D8-8151314D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0B263-215B-487C-B874-A6CF1F6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191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A5A5A"/>
                </a:solidFill>
              </a:defRPr>
            </a:pPr>
            <a:r>
              <a:rPr sz="900" b="0">
                <a:solidFill>
                  <a:srgbClr val="5A5A5A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C1F69-E086-4C92-8214-42D3B9F8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933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B0B"/>
                </a:solidFill>
              </a:defRPr>
            </a:pPr>
            <a:r>
              <a:rPr sz="3600" b="1">
                <a:solidFill>
                  <a:srgbClr val="0B0B0B"/>
                </a:solidFill>
              </a:rPr>
              <a:t>Show the API evidence. Package the workflow. Pilot with one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E1FD2-52E3-4E11-8DE8-53EE223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</a:defRPr>
            </a:pPr>
            <a:r>
              <a:rPr sz="1800" b="0">
                <a:solidFill>
                  <a:srgbClr val="5A5A5A"/>
                </a:solidFill>
              </a:rPr>
              <a:t>The client-facing ask: bring one manual workflow and one account example. We will map the API calls, review rules, and pilot path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258AD-B966-4F65-9641-3516E6BD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600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C5E35-AB9E-42B9-A56E-62546D4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0B0B"/>
                </a:solidFill>
              </a:defRPr>
            </a:pPr>
            <a:r>
              <a:rPr sz="1950" b="0">
                <a:solidFill>
                  <a:srgbClr val="0B0B0B"/>
                </a:solidFill>
              </a:rPr>
              <a:t>Recommended next action: schedule a 60-minute client preview using the deck plus the API demo video runbook.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C040F-448C-4A01-AA0F-3D230A06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66850"/>
            <a:ext cx="27432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FA517-0E06-40A8-83CC-168B56F0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Share with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1CF78-535F-421A-B319-27339BF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Client preview 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2E821-405D-4438-970A-CEA6DC70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API demo 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BDF2C-B214-4F39-B4EC-35AF4818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Audience tutorial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710CF-F686-48DD-B023-6D52B6D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Two-week pilot plan</a:t>
            </a:r>
          </a:p>
        </p:txBody>
      </p:sp>
    </p:spTree>
    <p:extLst>
      <p:ext uri="{BB962C8B-B14F-4D97-AF65-F5344CB8AC3E}">
        <p14:creationId xmlns:p14="http://schemas.microsoft.com/office/powerpoint/2010/main" val="1220957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2026-07-02T20:46:09.3980000Z</dcterms:created>
  <dcterms:modified xsi:type="dcterms:W3CDTF">2026-07-02T20:46:09.3980000Z</dcterms:modified>
</coreProperties>
</file>