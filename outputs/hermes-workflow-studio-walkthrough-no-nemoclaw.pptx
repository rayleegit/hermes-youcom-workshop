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5d93cfb604293" /><Relationship Type="http://schemas.openxmlformats.org/officeDocument/2006/relationships/extended-properties" Target="/docProps/app.xml" Id="Rc75d520e5fca48cd" /><Relationship Type="http://schemas.openxmlformats.org/officeDocument/2006/relationships/officeDocument" Target="/ppt/presentation.xml" Id="R17e1734bfd32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f97914682416c"/>
  </p:sldMasterIdLst>
  <p:notesMasterIdLst>
    <p:notesMasterId xmlns:r="http://schemas.openxmlformats.org/officeDocument/2006/relationships" r:id="Rd8df8f83cc404a89"/>
  </p:notesMasterIdLst>
  <p:sldIdLst>
    <p:sldId xmlns:r="http://schemas.openxmlformats.org/officeDocument/2006/relationships" id="256" r:id="R5ff0445f27f94cad"/>
    <p:sldId xmlns:r="http://schemas.openxmlformats.org/officeDocument/2006/relationships" id="257" r:id="Rc4f21bc684414a92"/>
    <p:sldId xmlns:r="http://schemas.openxmlformats.org/officeDocument/2006/relationships" id="258" r:id="R28a92191fadb4540"/>
    <p:sldId xmlns:r="http://schemas.openxmlformats.org/officeDocument/2006/relationships" id="259" r:id="Rb990c3bee0984434"/>
    <p:sldId xmlns:r="http://schemas.openxmlformats.org/officeDocument/2006/relationships" id="260" r:id="Ra4a4d27dcb854d44"/>
    <p:sldId xmlns:r="http://schemas.openxmlformats.org/officeDocument/2006/relationships" id="261" r:id="Rff550c20b4bd4d86"/>
    <p:sldId xmlns:r="http://schemas.openxmlformats.org/officeDocument/2006/relationships" id="262" r:id="R9aa3a48e18074930"/>
    <p:sldId xmlns:r="http://schemas.openxmlformats.org/officeDocument/2006/relationships" id="263" r:id="Ref75cdacc7594c5d"/>
    <p:sldId xmlns:r="http://schemas.openxmlformats.org/officeDocument/2006/relationships" id="264" r:id="R503800aa82c940a3"/>
    <p:sldId xmlns:r="http://schemas.openxmlformats.org/officeDocument/2006/relationships" id="265" r:id="R034249cbc792478c"/>
    <p:sldId xmlns:r="http://schemas.openxmlformats.org/officeDocument/2006/relationships" id="266" r:id="R96017867ce2c4e77"/>
    <p:sldId xmlns:r="http://schemas.openxmlformats.org/officeDocument/2006/relationships" id="267" r:id="Rbae8e15c5870478c"/>
    <p:sldId xmlns:r="http://schemas.openxmlformats.org/officeDocument/2006/relationships" id="268" r:id="R911a3f3fb6524181"/>
    <p:sldId xmlns:r="http://schemas.openxmlformats.org/officeDocument/2006/relationships" id="269" r:id="Rf0c1eb273247400f"/>
    <p:sldId xmlns:r="http://schemas.openxmlformats.org/officeDocument/2006/relationships" id="270" r:id="R966209d46f5442d7"/>
    <p:sldId xmlns:r="http://schemas.openxmlformats.org/officeDocument/2006/relationships" id="271" r:id="Rb9d882547341428c"/>
    <p:sldId xmlns:r="http://schemas.openxmlformats.org/officeDocument/2006/relationships" id="272" r:id="R7f118679b9de4b85"/>
    <p:sldId xmlns:r="http://schemas.openxmlformats.org/officeDocument/2006/relationships" id="273" r:id="R0774ec41b44e4bc0"/>
    <p:sldId xmlns:r="http://schemas.openxmlformats.org/officeDocument/2006/relationships" id="274" r:id="R3123d4cfc5f04c33"/>
    <p:sldId xmlns:r="http://schemas.openxmlformats.org/officeDocument/2006/relationships" id="275" r:id="R3ff7d2b990c244a4"/>
    <p:sldId xmlns:r="http://schemas.openxmlformats.org/officeDocument/2006/relationships" id="276" r:id="Rafea23d41a094a67"/>
    <p:sldId xmlns:r="http://schemas.openxmlformats.org/officeDocument/2006/relationships" id="277" r:id="R512797491cc146ae"/>
    <p:sldId xmlns:r="http://schemas.openxmlformats.org/officeDocument/2006/relationships" id="278" r:id="R1a85da5f217c45c4"/>
    <p:sldId xmlns:r="http://schemas.openxmlformats.org/officeDocument/2006/relationships" id="279" r:id="R4b183ca0b9464b84"/>
    <p:sldId xmlns:r="http://schemas.openxmlformats.org/officeDocument/2006/relationships" id="280" r:id="R695801bb88d64a3e"/>
    <p:sldId xmlns:r="http://schemas.openxmlformats.org/officeDocument/2006/relationships" id="281" r:id="R4931b958316945df"/>
    <p:sldId xmlns:r="http://schemas.openxmlformats.org/officeDocument/2006/relationships" id="282" r:id="Rb9c8fd433d7941e8"/>
    <p:sldId xmlns:r="http://schemas.openxmlformats.org/officeDocument/2006/relationships" id="283" r:id="R11d9cfa11cf544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f4ad69c2134d82" /><Relationship Type="http://schemas.openxmlformats.org/officeDocument/2006/relationships/slideMaster" Target="/ppt/slideMasters/slideMaster1.xml" Id="Reabf97914682416c" /><Relationship Type="http://schemas.openxmlformats.org/officeDocument/2006/relationships/notesMaster" Target="/ppt/notesMasters/notesMaster1.xml" Id="Rd8df8f83cc404a89" /><Relationship Type="http://schemas.openxmlformats.org/officeDocument/2006/relationships/presProps" Target="/ppt/presProps.xml" Id="Re535b50a23244c92" /><Relationship Type="http://schemas.openxmlformats.org/officeDocument/2006/relationships/tableStyles" Target="/ppt/tableStyles.xml" Id="R6c9fd5d244d14ea0" /><Relationship Type="http://schemas.openxmlformats.org/officeDocument/2006/relationships/slide" Target="/ppt/slides/slide1.xml" Id="R5ff0445f27f94cad" /><Relationship Type="http://schemas.openxmlformats.org/officeDocument/2006/relationships/slide" Target="/ppt/slides/slide2.xml" Id="Rc4f21bc684414a92" /><Relationship Type="http://schemas.openxmlformats.org/officeDocument/2006/relationships/slide" Target="/ppt/slides/slide3.xml" Id="R28a92191fadb4540" /><Relationship Type="http://schemas.openxmlformats.org/officeDocument/2006/relationships/slide" Target="/ppt/slides/slide4.xml" Id="Rb990c3bee0984434" /><Relationship Type="http://schemas.openxmlformats.org/officeDocument/2006/relationships/slide" Target="/ppt/slides/slide5.xml" Id="Ra4a4d27dcb854d44" /><Relationship Type="http://schemas.openxmlformats.org/officeDocument/2006/relationships/slide" Target="/ppt/slides/slide6.xml" Id="Rff550c20b4bd4d86" /><Relationship Type="http://schemas.openxmlformats.org/officeDocument/2006/relationships/slide" Target="/ppt/slides/slide7.xml" Id="R9aa3a48e18074930" /><Relationship Type="http://schemas.openxmlformats.org/officeDocument/2006/relationships/slide" Target="/ppt/slides/slide8.xml" Id="Ref75cdacc7594c5d" /><Relationship Type="http://schemas.openxmlformats.org/officeDocument/2006/relationships/slide" Target="/ppt/slides/slide9.xml" Id="R503800aa82c940a3" /><Relationship Type="http://schemas.openxmlformats.org/officeDocument/2006/relationships/slide" Target="/ppt/slides/slide10.xml" Id="R034249cbc792478c" /><Relationship Type="http://schemas.openxmlformats.org/officeDocument/2006/relationships/slide" Target="/ppt/slides/slide11.xml" Id="R96017867ce2c4e77" /><Relationship Type="http://schemas.openxmlformats.org/officeDocument/2006/relationships/slide" Target="/ppt/slides/slide12.xml" Id="Rbae8e15c5870478c" /><Relationship Type="http://schemas.openxmlformats.org/officeDocument/2006/relationships/slide" Target="/ppt/slides/slide13.xml" Id="R911a3f3fb6524181" /><Relationship Type="http://schemas.openxmlformats.org/officeDocument/2006/relationships/slide" Target="/ppt/slides/slide14.xml" Id="Rf0c1eb273247400f" /><Relationship Type="http://schemas.openxmlformats.org/officeDocument/2006/relationships/slide" Target="/ppt/slides/slide15.xml" Id="R966209d46f5442d7" /><Relationship Type="http://schemas.openxmlformats.org/officeDocument/2006/relationships/slide" Target="/ppt/slides/slide16.xml" Id="Rb9d882547341428c" /><Relationship Type="http://schemas.openxmlformats.org/officeDocument/2006/relationships/slide" Target="/ppt/slides/slide17.xml" Id="R7f118679b9de4b85" /><Relationship Type="http://schemas.openxmlformats.org/officeDocument/2006/relationships/slide" Target="/ppt/slides/slide18.xml" Id="R0774ec41b44e4bc0" /><Relationship Type="http://schemas.openxmlformats.org/officeDocument/2006/relationships/slide" Target="/ppt/slides/slide19.xml" Id="R3123d4cfc5f04c33" /><Relationship Type="http://schemas.openxmlformats.org/officeDocument/2006/relationships/slide" Target="/ppt/slides/slide20.xml" Id="R3ff7d2b990c244a4" /><Relationship Type="http://schemas.openxmlformats.org/officeDocument/2006/relationships/slide" Target="/ppt/slides/slide21.xml" Id="Rafea23d41a094a67" /><Relationship Type="http://schemas.openxmlformats.org/officeDocument/2006/relationships/slide" Target="/ppt/slides/slide22.xml" Id="R512797491cc146ae" /><Relationship Type="http://schemas.openxmlformats.org/officeDocument/2006/relationships/slide" Target="/ppt/slides/slide23.xml" Id="R1a85da5f217c45c4" /><Relationship Type="http://schemas.openxmlformats.org/officeDocument/2006/relationships/slide" Target="/ppt/slides/slide24.xml" Id="R4b183ca0b9464b84" /><Relationship Type="http://schemas.openxmlformats.org/officeDocument/2006/relationships/slide" Target="/ppt/slides/slide25.xml" Id="R695801bb88d64a3e" /><Relationship Type="http://schemas.openxmlformats.org/officeDocument/2006/relationships/slide" Target="/ppt/slides/slide26.xml" Id="R4931b958316945df" /><Relationship Type="http://schemas.openxmlformats.org/officeDocument/2006/relationships/slide" Target="/ppt/slides/slide27.xml" Id="Rb9c8fd433d7941e8" /><Relationship Type="http://schemas.openxmlformats.org/officeDocument/2006/relationships/slide" Target="/ppt/slides/slide28.xml" Id="R11d9cfa11cf544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529dfe6ef41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dd5b527ea40a2" /><Relationship Type="http://schemas.openxmlformats.org/officeDocument/2006/relationships/notesMaster" Target="/ppt/notesMasters/notesMaster1.xml" Id="Rf139b8594c82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e3e063cf54066" /><Relationship Type="http://schemas.openxmlformats.org/officeDocument/2006/relationships/notesMaster" Target="/ppt/notesMasters/notesMaster1.xml" Id="Rc587d9ce79544e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cafd1e6974f15" /><Relationship Type="http://schemas.openxmlformats.org/officeDocument/2006/relationships/notesMaster" Target="/ppt/notesMasters/notesMaster1.xml" Id="Rbfe25ea8aaa743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54dba8fa84496b" /><Relationship Type="http://schemas.openxmlformats.org/officeDocument/2006/relationships/notesMaster" Target="/ppt/notesMasters/notesMaster1.xml" Id="Rb157a9d62289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d2a213a42489d" /><Relationship Type="http://schemas.openxmlformats.org/officeDocument/2006/relationships/notesMaster" Target="/ppt/notesMasters/notesMaster1.xml" Id="Rff4a48d1246c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5154bdc8324afa" /><Relationship Type="http://schemas.openxmlformats.org/officeDocument/2006/relationships/notesMaster" Target="/ppt/notesMasters/notesMaster1.xml" Id="R1025f27b20364a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89c638e2d4410" /><Relationship Type="http://schemas.openxmlformats.org/officeDocument/2006/relationships/notesMaster" Target="/ppt/notesMasters/notesMaster1.xml" Id="Rf03006efe5f74d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615b8cc6a42b4" /><Relationship Type="http://schemas.openxmlformats.org/officeDocument/2006/relationships/notesMaster" Target="/ppt/notesMasters/notesMaster1.xml" Id="R4fa234cde42144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f2a47b81b64ec0" /><Relationship Type="http://schemas.openxmlformats.org/officeDocument/2006/relationships/notesMaster" Target="/ppt/notesMasters/notesMaster1.xml" Id="R75acb048f9ea4b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c2de2fdad40f7" /><Relationship Type="http://schemas.openxmlformats.org/officeDocument/2006/relationships/notesMaster" Target="/ppt/notesMasters/notesMaster1.xml" Id="R7d82bbc7923c4f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5ec6fd9bfb49d4" /><Relationship Type="http://schemas.openxmlformats.org/officeDocument/2006/relationships/notesMaster" Target="/ppt/notesMasters/notesMaster1.xml" Id="R22946eb6acaa4b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3d8d8e816e4e6d" /><Relationship Type="http://schemas.openxmlformats.org/officeDocument/2006/relationships/notesMaster" Target="/ppt/notesMasters/notesMaster1.xml" Id="R0fec6fa4964c4f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2394a6cec94420" /><Relationship Type="http://schemas.openxmlformats.org/officeDocument/2006/relationships/notesMaster" Target="/ppt/notesMasters/notesMaster1.xml" Id="R7994959dedd2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964442f2224643" /><Relationship Type="http://schemas.openxmlformats.org/officeDocument/2006/relationships/notesMaster" Target="/ppt/notesMasters/notesMaster1.xml" Id="Rc02ff52435c84c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fe46a1e7c44833" /><Relationship Type="http://schemas.openxmlformats.org/officeDocument/2006/relationships/notesMaster" Target="/ppt/notesMasters/notesMaster1.xml" Id="R0ff09eea2ccf49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f36a2006b943b0" /><Relationship Type="http://schemas.openxmlformats.org/officeDocument/2006/relationships/notesMaster" Target="/ppt/notesMasters/notesMaster1.xml" Id="R637c0ac0ff834c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616aad09254b6a" /><Relationship Type="http://schemas.openxmlformats.org/officeDocument/2006/relationships/notesMaster" Target="/ppt/notesMasters/notesMaster1.xml" Id="Rb2caed9750cb43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ad1d60390540fd" /><Relationship Type="http://schemas.openxmlformats.org/officeDocument/2006/relationships/notesMaster" Target="/ppt/notesMasters/notesMaster1.xml" Id="Rabe4614d0f8a47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900dbd9fd240d8" /><Relationship Type="http://schemas.openxmlformats.org/officeDocument/2006/relationships/notesMaster" Target="/ppt/notesMasters/notesMaster1.xml" Id="R6fbba538785c4e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c1264c690040ec" /><Relationship Type="http://schemas.openxmlformats.org/officeDocument/2006/relationships/notesMaster" Target="/ppt/notesMasters/notesMaster1.xml" Id="Ra4028af387f346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1f86cdea3a40c2" /><Relationship Type="http://schemas.openxmlformats.org/officeDocument/2006/relationships/notesMaster" Target="/ppt/notesMasters/notesMaster1.xml" Id="R30227629cbde4e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52541e57fd499b" /><Relationship Type="http://schemas.openxmlformats.org/officeDocument/2006/relationships/notesMaster" Target="/ppt/notesMasters/notesMaster1.xml" Id="R1990501a00db4f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7fd7f6b2014f32" /><Relationship Type="http://schemas.openxmlformats.org/officeDocument/2006/relationships/notesMaster" Target="/ppt/notesMasters/notesMaster1.xml" Id="Rb413e935cbe744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310680bb1e4843" /><Relationship Type="http://schemas.openxmlformats.org/officeDocument/2006/relationships/notesMaster" Target="/ppt/notesMasters/notesMaster1.xml" Id="R47edbf67140b49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06891b62e04700" /><Relationship Type="http://schemas.openxmlformats.org/officeDocument/2006/relationships/notesMaster" Target="/ppt/notesMasters/notesMaster1.xml" Id="Rfe302d76b2414a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b333c8a12c44e0" /><Relationship Type="http://schemas.openxmlformats.org/officeDocument/2006/relationships/notesMaster" Target="/ppt/notesMasters/notesMaster1.xml" Id="Rd0458953c9cc43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100403ad0a447f" /><Relationship Type="http://schemas.openxmlformats.org/officeDocument/2006/relationships/notesMaster" Target="/ppt/notesMasters/notesMaster1.xml" Id="R44f566b1438b40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6661f89ef54447" /><Relationship Type="http://schemas.openxmlformats.org/officeDocument/2006/relationships/notesMaster" Target="/ppt/notesMasters/notesMaster1.xml" Id="R33d1993e0b5246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18053082b45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0c6be169604fcb" /><Relationship Type="http://schemas.openxmlformats.org/officeDocument/2006/relationships/slideLayout" Target="/ppt/slideLayouts/slideLayout1.xml" Id="R84968b54a8c1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68b54a8c1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c891d75a04f36" /><Relationship Type="http://schemas.openxmlformats.org/officeDocument/2006/relationships/notesSlide" Target="/ppt/notesSlides/notesSlide1.xml" Id="Rde1dddf1a73543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befbda1f94ac7" /><Relationship Type="http://schemas.openxmlformats.org/officeDocument/2006/relationships/notesSlide" Target="/ppt/notesSlides/notesSlide2.xml" Id="R5e7abba0e8a9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579e292574306" /><Relationship Type="http://schemas.openxmlformats.org/officeDocument/2006/relationships/notesSlide" Target="/ppt/notesSlides/notesSlide3.xml" Id="Rab257d512571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a2a99a28c4e2a" /><Relationship Type="http://schemas.openxmlformats.org/officeDocument/2006/relationships/notesSlide" Target="/ppt/notesSlides/notesSlide4.xml" Id="Rf9a7cf66022b4f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de532f99495a" /><Relationship Type="http://schemas.openxmlformats.org/officeDocument/2006/relationships/notesSlide" Target="/ppt/notesSlides/notesSlide5.xml" Id="R25f7e4b318aa41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97ea021ca4022" /><Relationship Type="http://schemas.openxmlformats.org/officeDocument/2006/relationships/notesSlide" Target="/ppt/notesSlides/notesSlide6.xml" Id="R0911bccf41024a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62cc54e745f5" /><Relationship Type="http://schemas.openxmlformats.org/officeDocument/2006/relationships/notesSlide" Target="/ppt/notesSlides/notesSlide7.xml" Id="Ra1b43e800d6d41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5410ec7854761" /><Relationship Type="http://schemas.openxmlformats.org/officeDocument/2006/relationships/notesSlide" Target="/ppt/notesSlides/notesSlide8.xml" Id="Rfbf56d5ab4f649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055ba4dfa4d50" /><Relationship Type="http://schemas.openxmlformats.org/officeDocument/2006/relationships/notesSlide" Target="/ppt/notesSlides/notesSlide9.xml" Id="Rf6e4976e031742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01ede41b6424d" /><Relationship Type="http://schemas.openxmlformats.org/officeDocument/2006/relationships/notesSlide" Target="/ppt/notesSlides/notesSlide10.xml" Id="R5fd70b60bdf34f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17decf27c499f" /><Relationship Type="http://schemas.openxmlformats.org/officeDocument/2006/relationships/notesSlide" Target="/ppt/notesSlides/notesSlide11.xml" Id="R8aa0e1c58b0a41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1cd9d32ef46b8" /><Relationship Type="http://schemas.openxmlformats.org/officeDocument/2006/relationships/notesSlide" Target="/ppt/notesSlides/notesSlide12.xml" Id="Rd964877b6d4b45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4e22846014e72" /><Relationship Type="http://schemas.openxmlformats.org/officeDocument/2006/relationships/notesSlide" Target="/ppt/notesSlides/notesSlide13.xml" Id="Rb0a9f9800fff47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05c10189d4493" /><Relationship Type="http://schemas.openxmlformats.org/officeDocument/2006/relationships/notesSlide" Target="/ppt/notesSlides/notesSlide14.xml" Id="R0d5bbec4def84b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a36733ce4783" /><Relationship Type="http://schemas.openxmlformats.org/officeDocument/2006/relationships/notesSlide" Target="/ppt/notesSlides/notesSlide15.xml" Id="Rf6a5851388944e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99f336c60456d" /><Relationship Type="http://schemas.openxmlformats.org/officeDocument/2006/relationships/notesSlide" Target="/ppt/notesSlides/notesSlide16.xml" Id="R502e7af2022642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f6140a0d14660" /><Relationship Type="http://schemas.openxmlformats.org/officeDocument/2006/relationships/notesSlide" Target="/ppt/notesSlides/notesSlide17.xml" Id="R4443619fc7d542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dcc07fc74767" /><Relationship Type="http://schemas.openxmlformats.org/officeDocument/2006/relationships/notesSlide" Target="/ppt/notesSlides/notesSlide18.xml" Id="Ra45471de19b14b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ee1fb4ddc487e" /><Relationship Type="http://schemas.openxmlformats.org/officeDocument/2006/relationships/notesSlide" Target="/ppt/notesSlides/notesSlide19.xml" Id="Ra92fef9e822042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e7d26a1ae4970" /><Relationship Type="http://schemas.openxmlformats.org/officeDocument/2006/relationships/notesSlide" Target="/ppt/notesSlides/notesSlide20.xml" Id="Raaa2a1c75c0d4e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82d8007d44f65" /><Relationship Type="http://schemas.openxmlformats.org/officeDocument/2006/relationships/notesSlide" Target="/ppt/notesSlides/notesSlide21.xml" Id="R0d9d2c18f19640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c756d789c4c2d" /><Relationship Type="http://schemas.openxmlformats.org/officeDocument/2006/relationships/notesSlide" Target="/ppt/notesSlides/notesSlide22.xml" Id="R3c8fee6b2fb549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c890e52f42b7" /><Relationship Type="http://schemas.openxmlformats.org/officeDocument/2006/relationships/notesSlide" Target="/ppt/notesSlides/notesSlide23.xml" Id="R39d27ae53c074f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7e1dab5ed4194" /><Relationship Type="http://schemas.openxmlformats.org/officeDocument/2006/relationships/notesSlide" Target="/ppt/notesSlides/notesSlide24.xml" Id="Rce4becc24ff04d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f08ab03d34635" /><Relationship Type="http://schemas.openxmlformats.org/officeDocument/2006/relationships/notesSlide" Target="/ppt/notesSlides/notesSlide25.xml" Id="Re4b96282e23d48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e91cf28554a42" /><Relationship Type="http://schemas.openxmlformats.org/officeDocument/2006/relationships/notesSlide" Target="/ppt/notesSlides/notesSlide26.xml" Id="R052e97ca3e2241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566ddf0be4c3a" /><Relationship Type="http://schemas.openxmlformats.org/officeDocument/2006/relationships/notesSlide" Target="/ppt/notesSlides/notesSlide27.xml" Id="R6c1bd08cca794a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3264d76594d77" /><Relationship Type="http://schemas.openxmlformats.org/officeDocument/2006/relationships/notesSlide" Target="/ppt/notesSlides/notesSlide28.xml" Id="Rbed7e94fcc82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AC64C-1891-4444-9194-C442091E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9DBD-73DA-416F-AA57-21C2572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99463-FB9C-4C22-8B78-1D0E2B2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Alternate walkthrough 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80F5E-4168-41E8-910A-D7B69D9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D5231-D21F-4FF0-BF32-EB357FC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B0B"/>
                </a:solidFill>
              </a:defRPr>
            </a:pPr>
            <a:r>
              <a:rPr sz="4350" b="1">
                <a:solidFill>
                  <a:srgbClr val="0B0B0B"/>
                </a:solidFill>
              </a:rPr>
              <a:t>Hermes Workflow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B1032-B4EC-417C-8B9A-CFDB93F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5A5A"/>
                </a:solidFill>
              </a:defRPr>
            </a:pPr>
            <a:r>
              <a:rPr sz="1875" b="0">
                <a:solidFill>
                  <a:srgbClr val="5A5A5A"/>
                </a:solidFill>
              </a:rPr>
              <a:t>A walkthrough for building and running a governed account workflow with You.com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FCD8F-C812-4E5A-A605-354A00EF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676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0D470-A693-4A5F-91F7-0CB0B96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742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This walkthrough puts the focus squarely on Hermes: workflow design, tool orchestration, admin governance, reusable packaging, and pilot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943FA-F445-46FC-A793-C40C3672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857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41BE0-EC1F-4F15-8E21-F178BA90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Flagship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215D-794F-4C82-81A6-BEE8820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/account-action-brief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956FB-89CD-404D-808D-FC83226B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Live web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BA75E-C03B-4EEF-8806-E9FC104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GTM stack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FE0D6-89A2-45FA-9665-5A1D73C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Human review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73ABE-9B3F-4502-9D7C-1A9DCF7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Two-week pilot</a:t>
            </a:r>
          </a:p>
        </p:txBody>
      </p:sp>
    </p:spTree>
    <p:extLst>
      <p:ext uri="{BB962C8B-B14F-4D97-AF65-F5344CB8AC3E}">
        <p14:creationId xmlns:p14="http://schemas.microsoft.com/office/powerpoint/2010/main" val="158758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B2A00-7DF1-404C-88BD-279E142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A1E05-8E6F-4667-8EFE-7CB661FB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3D657-BACA-41A4-BCD1-F1EAFC71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Workshop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4E101-8734-40CE-96B1-808052E8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E1BD4-4EBB-44A4-A631-151C7E61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workshop is a guided build, not a product tour.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60780-FEC9-462D-8F1D-EDAFF64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audience should be able to follow the work step by step and imagine their own workflow replacing the demo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4866F-1448-4CD8-89EF-A5DF7DEB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3C69-16B5-41D5-B209-32719D7D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What we avoid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CA0CF-3544-4C26-8C3C-6775977B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Tool-by-tool 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F44C-53E2-4744-989C-35B4DED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One-off prompt tricks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FBA34-572A-4E06-B3F6-4987740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Automatic writebacks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3ED12-3E12-487B-85DD-F6B2D43C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Vague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DE62A-5C76-4DAE-BD3F-89DA5BB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6C6C3-44A2-4D1F-959A-BAB9FB6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What we show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0B97C-385D-4A8D-A8CD-1E83B1F8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 named Hermes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B4027-A6FB-4DCD-B342-36EF7EE4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Source-grounded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B72A4-7169-43C6-9070-B0A5F2D3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Controlled integrations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46C4C-47DB-48CF-BA69-B5C0EEB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Reusable pilot artifacts</a:t>
            </a:r>
          </a:p>
        </p:txBody>
      </p:sp>
    </p:spTree>
    <p:extLst>
      <p:ext uri="{BB962C8B-B14F-4D97-AF65-F5344CB8AC3E}">
        <p14:creationId xmlns:p14="http://schemas.microsoft.com/office/powerpoint/2010/main" val="181917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A36AC-2F28-449D-BA02-5D3CD91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74DB2-604E-49C0-885B-655DE22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826E-9545-4C78-9F60-85D638A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Workshop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211EC-C54B-4C10-B483-067F37E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8FBF2-F3E8-417D-B0CE-652FEFEE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By the end, attendees should know how to run the same pattern.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E4165-0DB4-4AC8-B7A1-5170E82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session should make Hermes feel practical: start with a repeated task, connect the right tools, add controls, and package the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64A7F-8886-40EC-B48D-3F910A6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DA6A0-AC3A-4E80-9DF3-92B86045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46691-FA8E-4EF5-ACBF-1A709D6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Understand the Hermes workflow lifecycle: build, connect, govern, package, pilot.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D45D2-36DD-4730-B5B9-8AAE910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63977-E183-4A0E-ABC1-97C5E754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DA1F6-8453-40AC-881B-99B7F8B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See You.com provide live web intelligence inside a reusable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5A7AD-5033-46EE-B0F6-4C9EBC65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46CB1-7CFA-4154-B4A8-442D248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27B1E-0BB1-4A4B-A028-A4B83D8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Map CRM, docs, calls, Slack/Teams, and outreach into one operating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357B9-6187-4204-A180-3E702710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6554C-8611-4686-8376-DEC6AE52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91C4A-E341-40B6-A1DA-23679C68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Define human review gates and draft-only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3A0DC-F100-404F-AD68-059E7F3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7BE39-2C63-4A88-8B15-77B47AA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7A95D-C2F6-46E6-9EA4-812D42C9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Leave with a workflow card and two-week pilot plan.</a:t>
            </a:r>
          </a:p>
        </p:txBody>
      </p:sp>
    </p:spTree>
    <p:extLst>
      <p:ext uri="{BB962C8B-B14F-4D97-AF65-F5344CB8AC3E}">
        <p14:creationId xmlns:p14="http://schemas.microsoft.com/office/powerpoint/2010/main" val="1059727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A5EF9-7978-4057-83B8-B54C624A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53B92-CAC3-4EF4-932D-95D7503B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3C40-2C8D-4DD9-B4A3-0E72B44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Workshop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DBA51-8F84-4305-8C77-0A2C48E6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F4F5-A1B8-438E-9257-A81E827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flagship demo follows one account from signal to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F664-9612-4F67-9B0A-989990D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Use ServiceNow as the public account, then keep every integration tied to the same workflow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0F7A6-F69B-48F1-8B3A-3432D62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9ED19-EDCA-4668-A276-A388312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CD899-2B9F-4CD6-9A79-15410B5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 rep asks for a meeting-ready account brief.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3527B-9036-4AD2-AC64-6CAC777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4D9E4-4AAC-4CF8-A40C-9153D75C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F4E8F-2A89-41E1-8EEE-C962ECAA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F491D-C7E0-412E-8E65-5701BB2D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You.com gathers fresh public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CC682-E9D2-402E-B813-456BDFD6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6C852-3C99-43AC-9D9F-1691467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9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CFDD8-B03A-4FC4-BDD4-1C13FEDD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F61EC-756A-48DB-B132-38014A8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CRM and docs add internal operating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46E1-3F46-4608-A5BF-09B4B738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00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0112D-F064-4E2F-B13D-AA9F017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3CF97-E182-45DF-9335-DBEC4F91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Synthesis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B8ADA-8BF7-42CA-B37B-98103D7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Hermes produces internal and external-ready drafts.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EF626-A062-4932-8400-897B262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A82B5-CE86-499A-9342-49D03A6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2CDE6-13E9-4EA1-B234-DA1F7C68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5FFD6-CB1E-4CC5-AA8B-4786ABD2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Human approval gates control external use.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F0E7A-959B-429C-8444-9C9D7FC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FE2B5B-4787-457A-AE9F-A283182E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5E6FF-A495-4364-884A-EC4D3DB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7C999-D837-43FF-BBA7-86AF668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workflow becomes a reusable playbook.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BAFE87-E18D-4C6C-8CA0-8064831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2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1319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2A9E4-280C-44B4-96AA-C3A0A03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AB661-0178-498E-A4DA-DF9A770C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B53C4-7852-4DCA-A8CF-D5296DF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28184-378C-4485-87F2-7295A7D2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BFB44-B033-42D8-9537-496BC38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E31B5-DCE0-448A-B6A0-75A4864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Part 1: Build the first Hermes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94AD6-2CE7-4382-BE98-60CDE58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Start with the command, the input contract, and the source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633028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63A7C-5995-4EEA-B212-ACD06DE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378F7-30A7-4DD1-8D53-BD66336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BF6DF-CDFA-468A-9EC1-10C2A20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957B7-F602-4C39-8694-0ABC5ED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A3847-42BA-4F89-B915-4D8C5FC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Start with the user job before touching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1283A-18BD-4CAD-A065-9517598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workflow has to be understandable to a non-technical user and controllable by an admin.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812D8-6739-43E7-92E3-C412772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2C01A-A764-456F-95AD-004346B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User 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9DFE8-241B-4198-AACB-105328F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Create an account-action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CB41-54D4-4946-887F-8675576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Use ServiceNow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87BFF-A2E7-4F0B-88CE-863E8118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Prepare for a first executive meeting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4A521-3A63-4B0D-B186-C6DB865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Return sources and next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A56CA-FC5E-4ED1-836A-D4009558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D183-6484-4D93-995A-FEF8FAE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Hermes captures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BBF8-69FC-4627-912F-36415E7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Workflow 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C59EE-E642-4D8A-93D6-FA456484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Trigger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EFAD-7431-4D6D-810E-628D4EAF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81EF9-C9F9-458A-9DC9-F9A9E3A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Output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A6F97-900D-42AB-8B22-7D2EFD4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265310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12702F-AC49-4A7F-BD34-8D373820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81DB9-3415-49CD-8F63-CC7F354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498A6-6D43-4074-95E4-702DFE8B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C736B-61F4-4B7D-BFF6-2E0E449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6C2BB-93AE-401A-9DF2-EFB27DE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Define the workflow inputs in plain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6A947-EF64-419D-B8CA-D9C2CD4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becomes the repeatable interface for the workflow, not a hidden prompt only one person understands.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C8334-77E0-47FF-B167-9705D133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7A514-2C64-41CA-9365-641B10D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20E84-1100-4367-B833-CEB354A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Account name and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7BE3B-8496-466C-A4EB-E31CD98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1BF7-301B-42B4-85FB-91BB467F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28AFC-FF0E-4196-9943-80BA140F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Account status: prospect, customer, partner, or strategic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8894D-314C-4C16-8C33-1C92C35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1D825-C331-4D06-A959-4C20443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2359A-D71F-43E9-B7EB-D16FE88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Meeting goal: discovery, renewal, expansion, partner pitch, or exec prep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4A93B-2A95-444B-B6B7-E5733D3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807FA-A6A4-416D-9D77-032EF59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874B8-66ED-4E19-A91A-91ACB88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Audience: internal team, executive summary, or external outreach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354DD-8009-4947-85EB-17EEF0B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812E5-1EC7-4C38-87D8-C9820E5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4B215-FE57-4B08-89B2-E4753466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01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Output preference: brief, talking points, outreach draft, or CRM update</a:t>
            </a:r>
          </a:p>
        </p:txBody>
      </p:sp>
    </p:spTree>
    <p:extLst>
      <p:ext uri="{BB962C8B-B14F-4D97-AF65-F5344CB8AC3E}">
        <p14:creationId xmlns:p14="http://schemas.microsoft.com/office/powerpoint/2010/main" val="2069261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2AAB8-D644-4428-B7F2-E4377644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6A5A6-7A22-4A5B-AF26-E98FA775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B16B1-CB5E-4139-AF14-30F85C3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65B47-C576-4193-9DDF-F5FD6AD4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B4BBF-9368-4BCB-A440-2B0291A8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Use You.com Search for current external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2CC46-87C6-4080-97DE-306B72B5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the fast source-finding pass before any synthesis happens.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2BE09-1E50-45BD-95F3-4567F818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D06DF-1149-4FFD-8895-CF50749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Search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DEC5-3329-43F5-8609-A1D05B9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Official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D7159-4A83-448C-BDD0-EEEF5AD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Recent news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5655-255B-41CE-AF92-7912B12D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Investor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D1E6B-CAC4-4DD5-BCE0-B94100B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Partner announcements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58A99-C732-4A24-94B2-3162C00D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Executive updates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D39F8-F59C-4384-820C-7CB42547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F64BD-65DF-4119-B89E-D4DB9BF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What Hermes keeps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32D8D-6C2E-4E51-B0EA-65E710D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 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FDEA2-C0F0-4625-B5B6-7D952FB3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Publisher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52C86-39CB-41D8-A7E8-35CB1625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52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Date or freshness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6558B-0DD7-48E8-99DD-2F15A77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Claim supported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0D29A-B36D-4EC2-B353-877B75D1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Open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4075F-5805-48DE-868D-8E4E77C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C226F-9E81-4C49-A841-A7A0683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Facilitator move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DF190-812E-474E-A00E-85B28AC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Pause on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22726-72C6-46BA-B717-F682859B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Ask what is trustworthy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A49CB-3F4F-44E5-B268-4DF1B30E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Mark weak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5825A-8BB9-4CE3-9691-06D04C70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Do not skip inspection</a:t>
            </a:r>
          </a:p>
        </p:txBody>
      </p:sp>
    </p:spTree>
    <p:extLst>
      <p:ext uri="{BB962C8B-B14F-4D97-AF65-F5344CB8AC3E}">
        <p14:creationId xmlns:p14="http://schemas.microsoft.com/office/powerpoint/2010/main" val="836799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23975-C323-4C42-B38A-41832251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489F8-8D00-43CF-97F5-30B3262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2F39-FE21-48C8-B1D2-F7B8F9DC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2254D-2FC5-4501-86DA-664667F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F9270-09CA-4D71-B7F4-9F7B460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Use Contents to inspect the sources that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123D1-5A2C-4422-8212-D370596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workshop should teach the habit: source lists are not enough; inspect the pages behind important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0FA3F-2C3F-42F9-8715-79C5C73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0F0B9-7CD9-4B06-9F40-B50BA66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FFD65-EBCE-475C-9C24-DE53BCB8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Open the official page or announcement behind each important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E69D5-C0B6-4A94-BC83-C248912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60219-B778-405D-B8F4-12AAAC83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056B6-A8EE-4CC0-B3C9-A0966BA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Pull clean page content into the workflow instead of relying on snippets.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88769-CA66-491F-9129-72DB6EBD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FBC88-8A50-42E8-9A2D-B8C5C2EF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04A1-5001-4253-986F-7FC9092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Mark whether the source supports the claim directly, indirectly, or not at 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6F9D-93DB-456A-AC10-38A6119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B69DA-7B60-4CBA-9423-29B9B00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2BC40-4D14-4336-A341-229E9F4A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Keep unsupported claims as questions instead of 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86EE0-14CF-428B-B25A-38B3D37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BFDF1-EE31-4F98-8973-F09766D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D194C-D3C8-432E-8583-7704DD9E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958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Use this inspection step to build audience trust in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94325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04B13-2F64-49BA-A6F4-FF96FCD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75AE-CC0E-46F0-9DC9-1CF7D21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F6EE5-D279-42C0-B27A-205EEDD7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E0FAE-94AF-4406-805F-130BF9B1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F3E1-0DF2-4A44-9AFF-8146E57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Use Research when the answer needs synthesis.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D3719-820D-44C3-8DED-FF01546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Research is the escalation path when the account context spans multiple sources or needs a structured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B0953-731A-4FC0-B435-EDE89EE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748F-3316-4AE7-B6B6-C3D7FAF6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Stay with Search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77CDE-C52A-41EB-909A-480ED967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question is narrow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6DB88-6DB2-4A31-9800-D8C799D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One or two sources are enough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4981-B4DB-423E-B538-17CEAEC4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user needs fast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3A67B-3D36-4096-BBBE-92B43D7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output is low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A3433-12FD-4D93-9393-96E12E97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1E9E3-EF11-46F3-B464-DDEEBCAC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Escalate to Research 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B1CA0-45CB-46A7-83E9-0951900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Sources disagree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B22CF-E793-493A-8217-3C70B272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brief needs synthesis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6EE9B-4628-4EB9-8170-46EBA06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account is strategic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5B179-2FA3-4186-8C59-A40F4514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The output drives a next action</a:t>
            </a:r>
          </a:p>
        </p:txBody>
      </p:sp>
    </p:spTree>
    <p:extLst>
      <p:ext uri="{BB962C8B-B14F-4D97-AF65-F5344CB8AC3E}">
        <p14:creationId xmlns:p14="http://schemas.microsoft.com/office/powerpoint/2010/main" val="1535121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6B4EB-0538-44B7-8318-A2B7F13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AB371-AB20-4F14-BAEC-480CFDAA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BEFB5-306E-461A-AEAC-A2A4180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0DB06-AC85-4DA4-9D1A-50902B9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5DC0C-D7A2-420A-A3EA-CF2E96D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Hermes turns research into the first workflow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FAE74-78E2-4F21-B552-F6B4047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output should be structured enough to reuse, review, and measure.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04378-1644-4099-827D-B3CAA03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F86F-788B-4691-B492-ABFE0A1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Internal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DB231-C6A9-4D51-873A-2F25D3E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Company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9AB2-1EE6-4FBE-88EA-E3EEF937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Recent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3C08D-4944-474F-B13A-B9D4E02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Buying triggers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5194C-057E-4F5A-8BF3-AC55792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Risks and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8BC7C-1059-4A15-8B11-E9B241D2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0048F-A530-4CEE-83F8-2FEFFED4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17808-2A61-4B9B-B413-2D75B87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Action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5C1CE-ECE1-4D66-AFC6-7780F8D3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Recommended next 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36236-EEC3-4C3F-8CF1-17FCDC48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Meeting opener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E79E4-8DA8-4314-BFAA-266C785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Questions to 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60919-EF0B-4C0D-841D-73591AE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CRM update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0DE62-EDAF-450C-94CD-CFFAFEB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91963-567D-4328-B57D-1202A549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E7FD2-1298-4A2F-9B53-D2301696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Workflow card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59578-2B40-4203-9F0A-7711C81F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CA4EA-24B0-4A11-8621-79D1D7F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FF525-3B0E-4D2A-9676-7C674D2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Output schema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53984-7CBA-44C9-A197-8C8F5E0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A7B2E-6284-4A20-8E0B-CC59B53F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 rule</a:t>
            </a:r>
          </a:p>
        </p:txBody>
      </p:sp>
    </p:spTree>
    <p:extLst>
      <p:ext uri="{BB962C8B-B14F-4D97-AF65-F5344CB8AC3E}">
        <p14:creationId xmlns:p14="http://schemas.microsoft.com/office/powerpoint/2010/main" val="760537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C9E79-C67C-4D19-8855-3AF2E70D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75F1C-45C9-4AFD-8ACA-D2DB3D11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8D059-B56A-4028-90E8-B423AD9D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536C7-8781-4E21-9727-5FD69D6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A388E-77E5-4B0A-B35A-8A29C4D7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174E3-8F25-4EB0-A2A8-CEBA2D5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Part 2: Connect the GTM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92F29-D6E5-47ED-8E0D-DB799822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Now the workshop shows how Hermes adds internal operating context without losing control.</a:t>
            </a:r>
          </a:p>
        </p:txBody>
      </p:sp>
    </p:spTree>
    <p:extLst>
      <p:ext uri="{BB962C8B-B14F-4D97-AF65-F5344CB8AC3E}">
        <p14:creationId xmlns:p14="http://schemas.microsoft.com/office/powerpoint/2010/main" val="1950072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0E90D-87E6-4F20-8A39-7A4320F9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1F2C7-1F1A-4509-88AD-DE78A1A2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63EE0-89A1-4D0D-AFD8-53B07FC9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28BC3-CD7E-46AF-A29C-3003E9F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FC1FF-7249-430D-9A4B-D6CCFC1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CRM adds the operating context the public web cannot know.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CD3CA-889D-4637-9174-763671F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Keep this read-first in the workshop; writebacks become drafts until the review model is 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D373F-D995-4274-8817-9485441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C00E5-CD1B-4A14-B4E6-4F78F69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Read from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6B95A-3373-4075-98D5-FD4403C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CBF9F-7B29-4CB4-A43D-257927C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DA526-0783-4599-9941-27A632EB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79C6D-1649-4073-952E-1AC6DAE9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Open next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A1D89-4228-42FE-9B06-E4A86842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Last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B49A3-F91E-429D-866C-BB29EB2E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F2E0B-6DB3-4B93-88B5-E755D6A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Prepare for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A6E3A-32C5-4C52-9921-A439F99E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Brief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6CDE1-CD24-47F0-9AA0-137DA4A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Buying trigger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3CCB7-E616-4DD7-9557-6FEA94E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Follow-up 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A72E9-52A6-4B2D-A8FE-A253EA0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Source-backed 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AE69B-9480-4AF1-B51B-A6756C5B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 status</a:t>
            </a:r>
          </a:p>
        </p:txBody>
      </p:sp>
    </p:spTree>
    <p:extLst>
      <p:ext uri="{BB962C8B-B14F-4D97-AF65-F5344CB8AC3E}">
        <p14:creationId xmlns:p14="http://schemas.microsoft.com/office/powerpoint/2010/main" val="11397340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6B022-5BB4-42C9-8016-473694AC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056A0-4E35-432E-95B5-40E13316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EE38B-0730-4BD0-83B1-3E04B6F4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39388-D05B-4592-9334-F8801E1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4D48F-9FDD-4D36-9A06-F3FAC98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Docs and knowledge bases add approved internal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3B342-BEDF-4B88-A646-AABFE65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where the account brief stops being generic and starts matching the company’s actual positioning.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804B-9ECA-47F8-A7E8-BE43E07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6570A-91FD-4859-9AD7-12A9207E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Approved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90CBC-F857-49D7-83EF-62C08CC4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Product messaging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CDB13-D849-4439-AA47-BAC10096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Sales playbooks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EB857-539A-4678-8BA0-A597C6DB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Case studies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E4316-8363-4682-9975-BDA9CF4F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Security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864C8-784F-4DB5-B3BA-C95C884C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Competitive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48835-6427-416C-B6F5-24C6133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3A694-AA17-43E7-A387-D0A70AD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Hermes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630F2-8F91-49EA-B755-A631835B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Prefer approved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5D5C3-F5AF-4680-828A-EAC1A00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Mark internal-only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02843-23C0-4D85-A4CB-5647A83F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Avoid unsupported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F6579-94E4-459B-A0DA-7B9F0C75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Preserve 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4581E-2E25-4E55-8B0F-1A14A64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252AF-D7BA-4B3D-8C0F-171C4A7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Workshop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DFE3A-E8BC-4408-A43D-C7E8F78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What internal docs should this workflow trust?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EA8C8-5FE1-43D9-A895-895B9DBE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Who owns them?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E2EB2-5F10-4598-9BFC-30105EF4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What is off-limits?</a:t>
            </a:r>
          </a:p>
        </p:txBody>
      </p:sp>
    </p:spTree>
    <p:extLst>
      <p:ext uri="{BB962C8B-B14F-4D97-AF65-F5344CB8AC3E}">
        <p14:creationId xmlns:p14="http://schemas.microsoft.com/office/powerpoint/2010/main" val="21235244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D39E9-C328-45FB-8970-A6B74508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A686-D241-4C82-9D66-B45D362C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241E-684B-4220-BE5F-97A35479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80680-1795-4B2C-BAA0-45091D21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BA673-8B9E-4B77-8706-65450B8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Meeting and support context make the brief more actionable.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4C2D1-4C13-40C1-BADA-8ED0573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Use these as optional enrichment paths, not requirements for the first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067F8-8A64-4233-90AF-34931DB9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67B13-79DE-44E3-88AA-4EA39D96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Meeting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C0435-1423-49D5-AD0C-EE2A4D7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Objections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E02E2-9306-4538-BF16-2460B07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Stakeholder priorities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EFCCF-81F0-40B2-ACD8-C4C561B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Competitors mentioned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45F3E-F799-4F7C-AFF5-E1D2FDED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Follow-up commitments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82956-79E8-414B-A044-0C20DE4C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EC8F1-1EE1-46D2-9550-28B7675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Support or product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F832B-79F4-4EDB-9361-B28B847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Open issues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E0AF1-131B-4FA7-989A-A9D6DF01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Common pain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75B18-141A-4A12-90F7-7AB2C15B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Usage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C111F-9E94-4428-82EE-84A347D8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Expansion or risk indicators</a:t>
            </a:r>
          </a:p>
        </p:txBody>
      </p:sp>
    </p:spTree>
    <p:extLst>
      <p:ext uri="{BB962C8B-B14F-4D97-AF65-F5344CB8AC3E}">
        <p14:creationId xmlns:p14="http://schemas.microsoft.com/office/powerpoint/2010/main" val="1983411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50E47-5DA1-4494-8B82-0D3CD7A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7AEF-9CDB-4E92-BCB8-667F714F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0D06E-4177-4C73-B320-3E3DD506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63BD6-9A7E-458E-87EC-2CBC259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10EFA-6F16-431E-93C0-08E8CF7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Slack or Teams becomes the review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F2A92-674C-463D-9619-75EDCCD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workshop should show a draft review request, not an automatic send.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8A40-8BAD-4B66-AC26-24313D1B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2C5E5-3045-4DCF-BEBB-155D4910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9C59-CE48-40CD-B644-5A7125D3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Post the internal brief summary.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0EBB8-0143-492D-B76F-B2D90A0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F8E16-99AE-434F-A9AD-38546648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4754D-DBFA-4465-81BE-578E458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Attach or link the external-ready draft.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DAA7A-F8DC-4658-BA12-3B2B64D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32833-B425-4B46-8B89-224F916F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7B740-1D16-4A7B-BD93-535D234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Show claims that need human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5ACD7-1E1C-4A22-BC07-2B7494C1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4EDE2-E5A5-4B75-8DB4-D7D10ED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EEBE1-7183-4377-9E92-A38025B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Ask for approve, edit, or reject.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24354-1199-46EF-8D42-31D5552C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95006-BC59-4940-8937-A7259FD8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EC84D-295E-412D-8A86-B17AF384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Log the decision before CRM writeback or outreach use.</a:t>
            </a:r>
          </a:p>
        </p:txBody>
      </p:sp>
    </p:spTree>
    <p:extLst>
      <p:ext uri="{BB962C8B-B14F-4D97-AF65-F5344CB8AC3E}">
        <p14:creationId xmlns:p14="http://schemas.microsoft.com/office/powerpoint/2010/main" val="6161822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6D6B50-DC7F-4F16-8C36-5B64830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829A1-11D0-41A4-BE9D-2B6289D1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66427-5234-4FE5-AC49-7930705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26895-87B2-4F23-B283-7D8D0FE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BC8E-2423-4E32-B411-A85B6D9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Action systems receive drafts, not unchecked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D6BED-1744-4179-9636-F220C469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keeps the workflow useful while avoiding the scariest failure mode: an agent acting too soon.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7E1CD-CEB6-407E-82F7-5E96778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5471B-67B6-408D-9BD8-210A430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CRM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35E-AEB5-4703-9C40-F5AEFFDB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Brief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F1E6-3DE5-4B37-9FB9-F198A01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B76D3-FBA1-420E-8AEF-B19FCE78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E374-2881-4220-A9E7-DB2B302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Follow-up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14A6C-DE31-40DB-AB9F-420F9ED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A9E5B-2AEC-41B4-9C10-CDDD086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Outreach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5B666-524D-4121-B5C3-C0A2D3F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Meeting opener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6125E-4C3F-4FA6-ACB3-3E60A61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Approved bullets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941E2-8E28-4DC8-A1AA-B2788E8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Source-backed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057B2-3C91-4449-BD1D-BF5110C6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Human send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C9F2A-F9FA-489C-A545-010E6FE7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A2DD4-94A8-4207-A35D-DA13024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Project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88364-13D7-4611-98F9-2ADBB1F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Workflow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6B66A-5232-46C7-9F56-1F54D1C8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Missing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D1EF6-3D5D-4166-B5D6-E90836D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Policy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0C30A-1A21-44C5-928F-B1D0B0A5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Connector issue</a:t>
            </a:r>
          </a:p>
        </p:txBody>
      </p:sp>
    </p:spTree>
    <p:extLst>
      <p:ext uri="{BB962C8B-B14F-4D97-AF65-F5344CB8AC3E}">
        <p14:creationId xmlns:p14="http://schemas.microsoft.com/office/powerpoint/2010/main" val="11839065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B2FD0-69F4-4B9C-BA25-F8D2AD9A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4D372-F8A2-4375-A39B-AA49452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BEB09-8DCA-4C7A-8D77-8635499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AC159-0631-4A1D-9131-3BD64039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3ED23-17C4-4C48-B347-05A8722F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18A50-B03E-40DF-B7B8-727FE87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Part 3: Govern the workflow in Hermes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22D65-8086-467E-8F59-E2E1C74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Governance lives in roles, tool exposure, data boundaries, review gates, and approval states.</a:t>
            </a:r>
          </a:p>
        </p:txBody>
      </p:sp>
    </p:spTree>
    <p:extLst>
      <p:ext uri="{BB962C8B-B14F-4D97-AF65-F5344CB8AC3E}">
        <p14:creationId xmlns:p14="http://schemas.microsoft.com/office/powerpoint/2010/main" val="18354726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087E9-53CC-408A-91AC-A32E8191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6369E-5D39-486D-B4AE-6BF7733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75A86-4A9F-4CED-BDE4-76B9CB2A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B1469-E40D-4759-A10A-D4C6CEE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45AD0-1AED-4DCE-A8DB-C53EDB90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Admin setup turns the demo into something pilotable.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FA777-E5A9-4A81-A588-A559E84D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Make the governance decisions explicit before expanding the workflow beyond a small cohort.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F5C5A-CE6E-4BAC-BEB0-B93C6CF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B41C-944F-441C-B14A-61D4187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5490B-B2E0-442C-AF93-FAF0E255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Who can run the workflow?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685E4-E039-4DF6-B931-E1B1E47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93F23-AD71-4802-8117-11CCBFC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2DA58-1AC7-4D75-B9BD-F1CDCCE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Which tools can Hermes see for this workflow?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6AA7B-5BFC-4759-92E3-3C02BE0E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6D10-59FC-4E9A-975B-EAEF2AD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B78A7-86FB-4A65-9D07-2F8901E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Which tools are read-only, draft-only, or blocked?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BAA56-CE5E-465B-AB93-72B0AC9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4D3D2-C3E8-40C3-B8A6-B636101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616E7-DB6D-4B57-A831-CA1E9F5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Where do credentials live, and who owns rotation?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6CCE8-C5D3-4814-94CF-D9DD575B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90031-C02C-4230-8628-36E4A7C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1E4DD-96B2-462E-97E0-DC53D16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What data is off-limits?</a:t>
            </a:r>
          </a:p>
        </p:txBody>
      </p:sp>
    </p:spTree>
    <p:extLst>
      <p:ext uri="{BB962C8B-B14F-4D97-AF65-F5344CB8AC3E}">
        <p14:creationId xmlns:p14="http://schemas.microsoft.com/office/powerpoint/2010/main" val="919059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9EC13-F345-4A03-AC01-EF725FF7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FC37C-FA1D-494E-964F-B34BBC9E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A68A0-2D9A-4BA2-A430-8DC966A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0D0E-90E4-4928-A989-7FC3988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4A1C-3DDE-41CA-895A-2A77F2FC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Review gates decide what can leave the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D2DE0-F444-43CE-8C0F-9285E9A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audience should see that governance is not a vibe; it is a workflow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00743-AFB9-4FB6-80FF-AA8FFCC0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8BBE4-9942-49C8-BAD8-8B10033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Internal-only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2D60-7FD3-4BAD-AD15-515EDAD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Safe for team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5B98F-3D26-4C17-BC02-E0823517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Not customer-facing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EFE89-DBA8-49E6-A90C-19DEC3C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May include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BD9B7-A455-4CA3-9FCE-F7E3274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A59C5-ADD4-4964-99C6-A5A323F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Needs edit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1ED92-65C1-4838-8B74-D128D394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Weak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4720A-93E1-4069-B434-3A040107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Unclear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ABDBB-2D1D-4D28-8394-679C7D49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Sensitive wording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143C5-F366-40BF-8CBA-F615ABD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1400D-2785-4869-A985-6090719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Approved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91679-8007-4714-8E88-3099E58D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Source-backed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A9E68-BFEB-4569-BA7A-8C2A6FC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13E0A-5952-4430-B21E-5083B5B9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Ready to 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99571-C26F-469B-A8AB-9AB0C41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1630D-F90A-48BF-8B71-E2517D1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Blocked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93EA5-38B7-4D02-A287-0A99803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Off-limits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3D538-AB35-49E6-9F35-6F9AC59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No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BDAB7-75D8-4D1A-86E7-0D0E36EA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Wrong action</a:t>
            </a:r>
          </a:p>
        </p:txBody>
      </p:sp>
    </p:spTree>
    <p:extLst>
      <p:ext uri="{BB962C8B-B14F-4D97-AF65-F5344CB8AC3E}">
        <p14:creationId xmlns:p14="http://schemas.microsoft.com/office/powerpoint/2010/main" val="13878901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57667-4D34-4615-87F6-059D3393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A6B5C-CD93-42E6-83D0-1F249E1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7295E-6B7E-4565-9DDA-82BCEABA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92797-2C46-4A36-AE20-B4076B9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80D4A-5578-4441-9CBB-B662E95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workflow should keep a lightweight audit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F09EA-A9EB-4586-A8AB-9819F510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what lets admins improve the workflow without reviewing every run from scratch.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8696B-660D-40C9-AA7D-AC254744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B7CEB-8F26-418A-84CB-11CFA66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Log each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26B53-45DF-4A85-B08A-A0C8E2F0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F4EE5-F25F-452A-8BD9-2277D3A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8CD80-F694-455E-B6B6-9B6F8CF6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Tools 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132FF-6D8A-424B-B0E2-54CCF8D6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Sources used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B8DA4-056C-4EF1-88AF-2A0EBB74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75D18-6370-42F0-924F-A4D6DFD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A1344-E3F2-4CC5-9DD4-774CFE8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Use the log to 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597CA-7206-41D1-801E-BC10FC03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Find weak 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7BE51-6FB2-44EA-ABFA-A6252D0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Tune prompts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44CE0-056F-4EA0-AA59-1A677B9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Update approved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E661B-E67B-462E-BC28-3D8C1BD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Adjust tool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35902-0C7A-44A6-9F0E-82B20B3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Measure adoption</a:t>
            </a:r>
          </a:p>
        </p:txBody>
      </p:sp>
    </p:spTree>
    <p:extLst>
      <p:ext uri="{BB962C8B-B14F-4D97-AF65-F5344CB8AC3E}">
        <p14:creationId xmlns:p14="http://schemas.microsoft.com/office/powerpoint/2010/main" val="1062248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6209D-13E5-41CB-A867-95813AB5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791AD-2B82-4BF7-B695-AB27B85B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4346-C3E2-4E34-AF23-5857A782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54F3A-A170-41C7-A3C1-0BDF55D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A1AE4-FB31-4EDC-B656-A4B37072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6B1FF-8E29-412E-A2B3-10D010DE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Part 4: Package and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D67FF-8024-4D92-9118-9548467E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The last section turns the workflow into a reusable Hermes skill or playbook.</a:t>
            </a:r>
          </a:p>
        </p:txBody>
      </p:sp>
    </p:spTree>
    <p:extLst>
      <p:ext uri="{BB962C8B-B14F-4D97-AF65-F5344CB8AC3E}">
        <p14:creationId xmlns:p14="http://schemas.microsoft.com/office/powerpoint/2010/main" val="1998583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ACAA7-AB1B-41AF-9CF0-CFEB5DAF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80984-B8E0-4055-9155-B36F222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ECDA3-E422-45D5-9B1C-5351C06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D4D7F-BE05-4FAE-853C-8E6D1B82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1C195-028E-4584-A545-B34CE503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Package the workflow so someone else can run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93336-46C0-45BA-8B44-AE1C138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the Hermes capability the deck should land: useful work becomes reusable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6320-5BA7-4E10-903B-E55281BD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44D51-35E4-4DD9-807C-DF15A774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Skill or playbook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104A9-C682-406E-9614-F80AB235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Workflow 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9952B-0433-48E2-AC0D-073D7346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Input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1D6EF-B3C2-41A8-99BF-A25DD56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Tool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52103-DF9B-4EF3-B0B5-5BD7F1D6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Output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F0693-6260-4C61-8090-6D10D6D5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46CC1-E467-4F57-8BBE-877EE43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95183-59D7-429E-A420-75B607D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Workflow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8003A-3B38-4773-B0B3-0F5D9592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Admin 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E520B-9115-493A-9E96-5216C577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CD776-45D7-443F-9C78-E3E66505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Pilot cohort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37BB6-DA5E-4339-9892-0926BB0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C208C-8F68-42BF-86B8-8237EB9E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Quality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2F394-44A6-4A76-BEAB-EA5EB24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1E86B-743B-4EBD-8F3D-8D5274B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A93D4-2A0C-434F-840A-9073551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Failure handling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FE6C4-83CF-4B9F-B608-10A0DF6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20061675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F987C-ED32-44FD-B9DB-4ABA0FF0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DE426-8345-4C7C-A36F-D57A9CF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A4AD5-8EB8-428A-985C-5ECE614D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34421-0AB2-441E-AD15-56065DE4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0E444-4CFC-427E-865C-07B324A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Run the pilot in two weeks, not someday.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BE042-7A21-4EEB-B528-E94AB66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A tight pilot makes the value visible and keeps the scope small enough to govern.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52AFA-572F-4E63-BD6C-858370C7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BD32D-314F-4241-9027-191258C0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793E1-1D1E-4540-8926-AB751A5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Pick 5 account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EA78F-CB9A-45DC-B165-53164B2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Pick 20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9B2F2-6412-4B92-9AFC-4C82CC08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Set tool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18590-12F0-4223-BEC8-FD1AF43B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Define review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13556-412D-4DA5-9E52-4119C8AB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424DD-F52E-4286-A72C-5E178D23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0BAB3-4CA8-4799-9BA6-58AB286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Run 10 briefs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2CA18-B0F8-490C-BAD0-4F23EDA2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Require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E5292-8CF5-4368-8719-28DE4685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Track corrections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1D448-D48A-4200-9004-DEEA0C4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Log weak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FA5F9-A5F6-473E-8E2D-0D53BE5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23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B9C7B-5C1D-4D29-A995-2540D482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9A016-8860-4965-9EC8-252236C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Run 25 briefs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9F1CE-48FC-46C6-AEA5-10A68F3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Draft CRM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4E801-6710-4622-90B9-D7C4652F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Measure 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5D15B-23D8-4166-90A5-41CF1CB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Decide expansion</a:t>
            </a:r>
          </a:p>
        </p:txBody>
      </p:sp>
    </p:spTree>
    <p:extLst>
      <p:ext uri="{BB962C8B-B14F-4D97-AF65-F5344CB8AC3E}">
        <p14:creationId xmlns:p14="http://schemas.microsoft.com/office/powerpoint/2010/main" val="13848621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9AAB0-5FED-4ACF-B57B-3A7254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15056-827C-4A61-B28D-DC00332B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EFEB3-3684-4E1C-8396-6C3482E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C8249-2545-4AF3-9D4A-B729E0E6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08717-9A17-4A77-9924-D2A1A12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Measure whether the workflow deserves to expand.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3D3AC-6436-4556-AE72-08BDCAC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pilot should decide whether to keep, revise, or stop the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CB4E-E272-4876-8C10-1B81BE5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BFCFF-77A9-4CEC-9D9C-AC1364B2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5375D-6D74-4452-B949-B0CB2C3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Time saved per account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541B3-995D-4D97-9319-1553159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43B48-1873-473D-9437-543EB391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799A8-36E5-4066-B022-FFA36826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Percentage of claims with source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A491E-8C98-4EC9-BD07-6178E958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FA140-3AFD-4A12-9E3E-641D7FD1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DCB7E-BF3F-4AA1-B1E2-6281D64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Review turnaround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6076B-5963-40C0-BE54-78D00BD7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9E299-86CD-4D04-8B16-F55143C8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FA311-0783-435C-B462-DE9FB75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CRM draft acceptance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02FB7-A597-4318-BC36-37CB98D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8C04E-442F-48F4-82FC-81F232E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5618F-2DC3-41C3-915B-BECC2A8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Outreach draft usage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19F0E-ECAF-4E53-9940-B653C6F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025B-0CB9-44B4-B7D0-3B44823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EE052-837F-4B54-B81C-60211D1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Pilot users who want to keep using the workflow</a:t>
            </a:r>
          </a:p>
        </p:txBody>
      </p:sp>
    </p:spTree>
    <p:extLst>
      <p:ext uri="{BB962C8B-B14F-4D97-AF65-F5344CB8AC3E}">
        <p14:creationId xmlns:p14="http://schemas.microsoft.com/office/powerpoint/2010/main" val="12504025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C136B-F972-40BC-B558-634CD872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3F1D8-F0DE-4B95-9357-657472B2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14D8A-A0D9-42DB-AFC8-D5E0E64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Expansion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5C03B-77E8-4272-9C8D-E2DEEFF3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B5924-1767-41C6-BDBD-D1CE2DAC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Hint at adjacent workflows after the flagship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76B83-67AE-4B05-B35B-1DFBD57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Do not split the live demo. Show that the same Hermes pattern can be reused elsewhere.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EBD82-7E7A-40F1-AAA7-17D4833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6DC3-EB6A-45E3-96C6-26064A8D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Trusted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D5315-7A6F-4957-979E-DED7ADC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Search plus internal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8998A-45E5-435B-AAFC-158374A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Citations and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172C3-1CA5-45F9-96FE-B7FA0FD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Escalation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D9B65-75C4-4ED5-9932-A1092B4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A08D4-374E-44BA-BB45-0C9C1747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Support copilot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454BB-2BB0-41E1-8F80-B10F15DF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Tickets and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4748D-CBA1-415D-9C88-02614950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Answer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C2638-4EB5-4545-A4D2-5B1E9A4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Project follow-ups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711FC-AEF3-4566-A17C-6C9E7A8F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5A3A9-B044-498D-8C95-7967F46D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Revenue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A3865-E5DF-4BEE-900D-08536B94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Renewal prep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F460E-B49B-4E60-A0E7-BDBD4C4D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29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Competitive intel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40BE0-2C11-4183-A264-12B6679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Partner briefs</a:t>
            </a:r>
          </a:p>
        </p:txBody>
      </p:sp>
    </p:spTree>
    <p:extLst>
      <p:ext uri="{BB962C8B-B14F-4D97-AF65-F5344CB8AC3E}">
        <p14:creationId xmlns:p14="http://schemas.microsoft.com/office/powerpoint/2010/main" val="19137556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5A430-0989-4B0E-9F33-CAE5479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71A92-3AB4-4214-88EA-4C9D7BF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1DF5F-AE58-4632-B6D9-ADABF46B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Facilitation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DE68-9DB5-4AEF-A74E-97BC1C5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5EC2-186E-4BB7-A605-C3CC7BC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facilitator should run the session like a build.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9E6B-26B7-44A2-89CC-AE07EEF6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Every part should produce something attendees can reuse after the event.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78ECC-9922-464A-9138-F8D68137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449DB-4EF4-428F-8C95-0E4AD78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CA37C-FB96-4CDF-B234-C5527791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Open with the workflow promise, not the tool 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DC424-0F11-4625-B30C-644014AC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3BF1A-5D3D-4805-8588-20D9F8B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F3D27-E83C-47CB-8564-F08427D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Run one flagship demo path end to 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23473-03BA-46BF-AEE1-6176A0EB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040E0-C8C4-4E1C-9113-5376E4EE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56FB8-FBEA-430C-8FA1-009198B2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Pause after each integration to ask what should be allowed.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3692F-7698-438E-A506-E34E7568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5DFC0-DEBD-49BA-A264-26C28AC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0E460-A3E4-478C-AC09-4E00257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Capture attendee workflow ideas in chat or the registration survey.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A34CD-FBB3-46B3-ACBD-C4225CF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E788E-F80E-4D72-AA88-65C5C33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D79C1-7B4D-4821-A98F-69FD9BC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Close by asking each high-intent attendee to name one pilot workflow.</a:t>
            </a:r>
          </a:p>
        </p:txBody>
      </p:sp>
    </p:spTree>
    <p:extLst>
      <p:ext uri="{BB962C8B-B14F-4D97-AF65-F5344CB8AC3E}">
        <p14:creationId xmlns:p14="http://schemas.microsoft.com/office/powerpoint/2010/main" val="14082190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F979A-ADFA-4B73-96DD-9479AC5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1A2C0-21C7-41DB-970B-CADF41CB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AFFE5-1CAC-4579-95AD-B3A07A12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0F259-B592-4A1C-9A60-094FB1A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9815-957E-4138-9924-D8C1A44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52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B"/>
                </a:solidFill>
              </a:defRPr>
            </a:pPr>
            <a:r>
              <a:rPr sz="3450" b="1">
                <a:solidFill>
                  <a:srgbClr val="0B0B0B"/>
                </a:solidFill>
              </a:rPr>
              <a:t>Bring one workflow your team already runs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74306-A2B1-4BAD-AD8C-E62436D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We will map the sources, tools, review rules, and pilot plan needed to make it a reusable Hermes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2F624-D019-48F0-938D-C9CDA79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E2DFE-053E-4670-8B76-F4F1FF4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B0B"/>
                </a:solidFill>
              </a:defRPr>
            </a:pPr>
            <a:r>
              <a:rPr sz="2325" b="1">
                <a:solidFill>
                  <a:srgbClr val="0B0B0B"/>
                </a:solidFill>
              </a:rPr>
              <a:t>Register to build a workflow your team can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C8FD4-CB16-4C0D-9594-304BE63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9540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DFB1F-C2BD-4D1A-9CEA-D46A7B8B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Leave with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57A30-BF2E-4F78-A5DD-1C630C8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Workflow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B2CAB-9646-4EE7-85E5-384D050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Connector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B5C58-AD92-412F-8F08-B5E7F1C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Governance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E6F89-F1AA-41F4-BA57-9709094F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Review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F025B-8BF8-47B6-A98B-8F5FEFE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Pilot plan</a:t>
            </a:r>
          </a:p>
        </p:txBody>
      </p:sp>
    </p:spTree>
    <p:extLst>
      <p:ext uri="{BB962C8B-B14F-4D97-AF65-F5344CB8AC3E}">
        <p14:creationId xmlns:p14="http://schemas.microsoft.com/office/powerpoint/2010/main" val="361974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2026-07-02T07:35:30.3150000Z</dcterms:created>
  <dcterms:modified xsi:type="dcterms:W3CDTF">2026-07-02T07:35:30.3150000Z</dcterms:modified>
</coreProperties>
</file>