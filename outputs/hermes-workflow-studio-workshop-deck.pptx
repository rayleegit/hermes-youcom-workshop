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43a69b4e0e406c" /><Relationship Type="http://schemas.openxmlformats.org/officeDocument/2006/relationships/extended-properties" Target="/docProps/app.xml" Id="Rc5be5bc2e55944df" /><Relationship Type="http://schemas.openxmlformats.org/officeDocument/2006/relationships/officeDocument" Target="/ppt/presentation.xml" Id="R43b2f23d56c54a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2a63b829eb4b1b"/>
  </p:sldMasterIdLst>
  <p:notesMasterIdLst>
    <p:notesMasterId xmlns:r="http://schemas.openxmlformats.org/officeDocument/2006/relationships" r:id="Rd3eb9d0eb0fd43a0"/>
  </p:notesMasterIdLst>
  <p:sldIdLst>
    <p:sldId xmlns:r="http://schemas.openxmlformats.org/officeDocument/2006/relationships" id="256" r:id="R295bfd82ca644c53"/>
    <p:sldId xmlns:r="http://schemas.openxmlformats.org/officeDocument/2006/relationships" id="257" r:id="R518f1edfd6374767"/>
    <p:sldId xmlns:r="http://schemas.openxmlformats.org/officeDocument/2006/relationships" id="258" r:id="R241038dd238e47ef"/>
    <p:sldId xmlns:r="http://schemas.openxmlformats.org/officeDocument/2006/relationships" id="259" r:id="R5e00bac69bcb44ae"/>
    <p:sldId xmlns:r="http://schemas.openxmlformats.org/officeDocument/2006/relationships" id="260" r:id="Rc93c492b1ccc4456"/>
    <p:sldId xmlns:r="http://schemas.openxmlformats.org/officeDocument/2006/relationships" id="261" r:id="R05773424853f4fcc"/>
    <p:sldId xmlns:r="http://schemas.openxmlformats.org/officeDocument/2006/relationships" id="262" r:id="R13d04f1972cd4c16"/>
    <p:sldId xmlns:r="http://schemas.openxmlformats.org/officeDocument/2006/relationships" id="263" r:id="R91ad2d2c93094dee"/>
    <p:sldId xmlns:r="http://schemas.openxmlformats.org/officeDocument/2006/relationships" id="264" r:id="Re84ba44e50c04d9f"/>
    <p:sldId xmlns:r="http://schemas.openxmlformats.org/officeDocument/2006/relationships" id="265" r:id="R5a8fc252abe24c06"/>
    <p:sldId xmlns:r="http://schemas.openxmlformats.org/officeDocument/2006/relationships" id="266" r:id="R326048ea104e4909"/>
    <p:sldId xmlns:r="http://schemas.openxmlformats.org/officeDocument/2006/relationships" id="267" r:id="R6bd00427b1b845d5"/>
    <p:sldId xmlns:r="http://schemas.openxmlformats.org/officeDocument/2006/relationships" id="268" r:id="R9fa04b93bee34410"/>
    <p:sldId xmlns:r="http://schemas.openxmlformats.org/officeDocument/2006/relationships" id="269" r:id="Rc41a1442d9714c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f091972d154e0f" /><Relationship Type="http://schemas.openxmlformats.org/officeDocument/2006/relationships/slideMaster" Target="/ppt/slideMasters/slideMaster1.xml" Id="R492a63b829eb4b1b" /><Relationship Type="http://schemas.openxmlformats.org/officeDocument/2006/relationships/notesMaster" Target="/ppt/notesMasters/notesMaster1.xml" Id="Rd3eb9d0eb0fd43a0" /><Relationship Type="http://schemas.openxmlformats.org/officeDocument/2006/relationships/presProps" Target="/ppt/presProps.xml" Id="R7aea748ede524092" /><Relationship Type="http://schemas.openxmlformats.org/officeDocument/2006/relationships/tableStyles" Target="/ppt/tableStyles.xml" Id="R90cabc788cfe4c4c" /><Relationship Type="http://schemas.openxmlformats.org/officeDocument/2006/relationships/slide" Target="/ppt/slides/slide1.xml" Id="R295bfd82ca644c53" /><Relationship Type="http://schemas.openxmlformats.org/officeDocument/2006/relationships/slide" Target="/ppt/slides/slide2.xml" Id="R518f1edfd6374767" /><Relationship Type="http://schemas.openxmlformats.org/officeDocument/2006/relationships/slide" Target="/ppt/slides/slide3.xml" Id="R241038dd238e47ef" /><Relationship Type="http://schemas.openxmlformats.org/officeDocument/2006/relationships/slide" Target="/ppt/slides/slide4.xml" Id="R5e00bac69bcb44ae" /><Relationship Type="http://schemas.openxmlformats.org/officeDocument/2006/relationships/slide" Target="/ppt/slides/slide5.xml" Id="Rc93c492b1ccc4456" /><Relationship Type="http://schemas.openxmlformats.org/officeDocument/2006/relationships/slide" Target="/ppt/slides/slide6.xml" Id="R05773424853f4fcc" /><Relationship Type="http://schemas.openxmlformats.org/officeDocument/2006/relationships/slide" Target="/ppt/slides/slide7.xml" Id="R13d04f1972cd4c16" /><Relationship Type="http://schemas.openxmlformats.org/officeDocument/2006/relationships/slide" Target="/ppt/slides/slide8.xml" Id="R91ad2d2c93094dee" /><Relationship Type="http://schemas.openxmlformats.org/officeDocument/2006/relationships/slide" Target="/ppt/slides/slide9.xml" Id="Re84ba44e50c04d9f" /><Relationship Type="http://schemas.openxmlformats.org/officeDocument/2006/relationships/slide" Target="/ppt/slides/slide10.xml" Id="R5a8fc252abe24c06" /><Relationship Type="http://schemas.openxmlformats.org/officeDocument/2006/relationships/slide" Target="/ppt/slides/slide11.xml" Id="R326048ea104e4909" /><Relationship Type="http://schemas.openxmlformats.org/officeDocument/2006/relationships/slide" Target="/ppt/slides/slide12.xml" Id="R6bd00427b1b845d5" /><Relationship Type="http://schemas.openxmlformats.org/officeDocument/2006/relationships/slide" Target="/ppt/slides/slide13.xml" Id="R9fa04b93bee34410" /><Relationship Type="http://schemas.openxmlformats.org/officeDocument/2006/relationships/slide" Target="/ppt/slides/slide14.xml" Id="Rc41a1442d9714c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ff5929806842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609cce8b454433" /><Relationship Type="http://schemas.openxmlformats.org/officeDocument/2006/relationships/notesMaster" Target="/ppt/notesMasters/notesMaster1.xml" Id="Rd4b0398402b540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f54873825a47d1" /><Relationship Type="http://schemas.openxmlformats.org/officeDocument/2006/relationships/notesMaster" Target="/ppt/notesMasters/notesMaster1.xml" Id="R904cfdf6ff064c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f3ad35ac0843c7" /><Relationship Type="http://schemas.openxmlformats.org/officeDocument/2006/relationships/notesMaster" Target="/ppt/notesMasters/notesMaster1.xml" Id="Rccf8bccbba7541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79767dc81b4135" /><Relationship Type="http://schemas.openxmlformats.org/officeDocument/2006/relationships/notesMaster" Target="/ppt/notesMasters/notesMaster1.xml" Id="R22f3400f595842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babe7fc73d4d7d" /><Relationship Type="http://schemas.openxmlformats.org/officeDocument/2006/relationships/notesMaster" Target="/ppt/notesMasters/notesMaster1.xml" Id="Rb8c1df5309f043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e5eebdfd5943b0" /><Relationship Type="http://schemas.openxmlformats.org/officeDocument/2006/relationships/notesMaster" Target="/ppt/notesMasters/notesMaster1.xml" Id="R205fcc90dcfe48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39808d27ee4659" /><Relationship Type="http://schemas.openxmlformats.org/officeDocument/2006/relationships/notesMaster" Target="/ppt/notesMasters/notesMaster1.xml" Id="Rbd652f3849964b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c7408d23ca4d4f" /><Relationship Type="http://schemas.openxmlformats.org/officeDocument/2006/relationships/notesMaster" Target="/ppt/notesMasters/notesMaster1.xml" Id="Ra44149b95f7647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0b85c812d441bf" /><Relationship Type="http://schemas.openxmlformats.org/officeDocument/2006/relationships/notesMaster" Target="/ppt/notesMasters/notesMaster1.xml" Id="R2fd90138c7564f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d1a6035f284e47" /><Relationship Type="http://schemas.openxmlformats.org/officeDocument/2006/relationships/notesMaster" Target="/ppt/notesMasters/notesMaster1.xml" Id="R28d7234fe29744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4595ab36c6450b" /><Relationship Type="http://schemas.openxmlformats.org/officeDocument/2006/relationships/notesMaster" Target="/ppt/notesMasters/notesMaster1.xml" Id="R1599e5e12ad24f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c78de996d941b3" /><Relationship Type="http://schemas.openxmlformats.org/officeDocument/2006/relationships/notesMaster" Target="/ppt/notesMasters/notesMaster1.xml" Id="Ra650902f0b1b46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bc989e8d4e4d59" /><Relationship Type="http://schemas.openxmlformats.org/officeDocument/2006/relationships/notesMaster" Target="/ppt/notesMasters/notesMaster1.xml" Id="R61b549caf02b4d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fec28e6c114cbf" /><Relationship Type="http://schemas.openxmlformats.org/officeDocument/2006/relationships/notesMaster" Target="/ppt/notesMasters/notesMaster1.xml" Id="R3c649444631a42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6a98b4a93e48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0d7d36990d4dd1" /><Relationship Type="http://schemas.openxmlformats.org/officeDocument/2006/relationships/slideLayout" Target="/ppt/slideLayouts/slideLayout1.xml" Id="R6c5b460d02e640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5b460d02e640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f986b5e3f441f" /><Relationship Type="http://schemas.openxmlformats.org/officeDocument/2006/relationships/notesSlide" Target="/ppt/notesSlides/notesSlide1.xml" Id="Ra3a21b5e9de44f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a205fa48f45a2" /><Relationship Type="http://schemas.openxmlformats.org/officeDocument/2006/relationships/notesSlide" Target="/ppt/notesSlides/notesSlide2.xml" Id="R588181fbe4404b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820de2a13417e" /><Relationship Type="http://schemas.openxmlformats.org/officeDocument/2006/relationships/notesSlide" Target="/ppt/notesSlides/notesSlide3.xml" Id="Rfa7b6c3dfaf049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cfc6a52634f22" /><Relationship Type="http://schemas.openxmlformats.org/officeDocument/2006/relationships/notesSlide" Target="/ppt/notesSlides/notesSlide4.xml" Id="R37aa68f3c4b943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c9591a94c4564" /><Relationship Type="http://schemas.openxmlformats.org/officeDocument/2006/relationships/notesSlide" Target="/ppt/notesSlides/notesSlide5.xml" Id="R810c84d14ba245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cd63c2f184127" /><Relationship Type="http://schemas.openxmlformats.org/officeDocument/2006/relationships/notesSlide" Target="/ppt/notesSlides/notesSlide6.xml" Id="R5316495eb88c47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d1837d1f849af" /><Relationship Type="http://schemas.openxmlformats.org/officeDocument/2006/relationships/notesSlide" Target="/ppt/notesSlides/notesSlide7.xml" Id="Rf06adea0e4aa43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bf2b1cdcf4e0e" /><Relationship Type="http://schemas.openxmlformats.org/officeDocument/2006/relationships/notesSlide" Target="/ppt/notesSlides/notesSlide8.xml" Id="Red4088522d2041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00757ee2b43ba" /><Relationship Type="http://schemas.openxmlformats.org/officeDocument/2006/relationships/notesSlide" Target="/ppt/notesSlides/notesSlide9.xml" Id="R7259cc41a7ef47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b61b02af54d94" /><Relationship Type="http://schemas.openxmlformats.org/officeDocument/2006/relationships/notesSlide" Target="/ppt/notesSlides/notesSlide10.xml" Id="R5cc43b17092942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c30f0ba8742ef" /><Relationship Type="http://schemas.openxmlformats.org/officeDocument/2006/relationships/notesSlide" Target="/ppt/notesSlides/notesSlide11.xml" Id="R5d42edd5053240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9c320c31c4907" /><Relationship Type="http://schemas.openxmlformats.org/officeDocument/2006/relationships/notesSlide" Target="/ppt/notesSlides/notesSlide12.xml" Id="Rfa9f2d3d6a9546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6b702edcc40b7" /><Relationship Type="http://schemas.openxmlformats.org/officeDocument/2006/relationships/notesSlide" Target="/ppt/notesSlides/notesSlide13.xml" Id="R3eaa8fa0b7de42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bdf0582cc4181" /><Relationship Type="http://schemas.openxmlformats.org/officeDocument/2006/relationships/notesSlide" Target="/ppt/notesSlides/notesSlide14.xml" Id="R369390beb6af42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B3B609-CDCA-4B13-B843-95DF1BEB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838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00000"/>
                </a:solidFill>
              </a:defRPr>
            </a:pPr>
            <a:r>
              <a:rPr sz="4500" b="1">
                <a:solidFill>
                  <a:srgbClr val="000000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07AB6-9C54-4B80-87C9-55FDAF65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Build governed AI workflows with You.com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8DB63-1BFC-4F17-B2E8-6B162812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708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A5B1F-48B4-4DF8-9636-218EE49E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A public workshop series that turns one repeated GTM task into a reusable Hermes workflow: source-grounded, tool-connected, reviewed, and ready to pilot.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6C96F-7E1D-4ED6-B2D6-E957D178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876300"/>
            <a:ext cx="2857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BE7DB-D6D4-4AC7-9FD5-FC91992D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Flagship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74DD0-B615-45C5-85D9-3FB8B882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/account-action-brief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AA685-E927-405E-94E4-5FC3CA8A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You.com source grounding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A6500-1609-4BB6-9C68-E08A616A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Hermes orchestration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48FC7-D24A-4F51-AE14-B051587C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95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NemoClaw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FD4AB-D8D4-4CBB-A6B9-54882099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19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Two-week pilot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05C1B-06F2-4883-9361-B1C19C8E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HERMES WORKFLOW STUDIO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78AA0-522C-45AE-845E-0C9E2522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9BEC6-A733-4735-9493-EC8FD500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Build, connect, govern, package, 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EE0D1-9926-460A-9D24-16104405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9076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A8863B-3199-4B28-AE86-F68F1AD7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A8E54-84A5-4DFC-82B8-426FD1D0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CF7E1-410B-4702-92D4-B895829C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PUBLIC WORKSHOP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EF22D-BDE7-4F81-BBD7-89658A30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13896-8B30-4A0A-B61D-485973FF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Teams do not buy answers. They buy repeatable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182CC-AF8A-4FE1-983A-C1DC4B4A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workshop starts with the gap between a good AI answer and a workflow a team can actually run.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65915-62F3-4537-8048-60592B23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3333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8D446-4B91-475D-A1E2-15334834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 one-off answer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FCD3A-E77A-4064-948D-98EFE02E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Useful once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DD26F-3E29-4472-A8D3-442AC960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Hard to govern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21D9E8-4AA4-454E-BD95-8F8B5E0E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Detached from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8C8EF-3144-4BBF-B0DC-E8A29ED7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No review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11B89-4D53-4DD2-A4A9-3B4C5AFE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71800"/>
            <a:ext cx="3333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EB7BD-B80C-47AB-9B8A-72B0D052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 governed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6115D-BC73-4FCD-9C80-50FCD08A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19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Reusable command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6004D1-C26F-4704-9436-7C1C601C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433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Tool permissions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26619-BA39-4840-B7B1-8E91B44F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67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Source requirements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7513D-702B-4FAD-BFC0-1AAB819C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910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Human approval gates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D72512-107A-4DCF-9D17-9E7B4AAA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71800"/>
            <a:ext cx="3333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0D15F-EAED-49B0-B47F-AE6DEC08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432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 pilotable outcome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8E61E-6B33-4982-8ED2-1F010AE1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19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Named owner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BF5BF0-DC8D-451E-89A9-8C7BE13A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433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Success metrics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ACCAED-5BCE-42FC-A774-4DC43AB0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67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Connector map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FA881-6B91-471D-BF55-0998FAB3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910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Two-week rollout</a:t>
            </a:r>
          </a:p>
        </p:txBody>
      </p:sp>
    </p:spTree>
    <p:extLst>
      <p:ext uri="{BB962C8B-B14F-4D97-AF65-F5344CB8AC3E}">
        <p14:creationId xmlns:p14="http://schemas.microsoft.com/office/powerpoint/2010/main" val="21184746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BD3500-787D-4E40-AA05-B8D27EF3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418D7-CA6D-4B6A-84AE-C386F0EC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31E97-AA8F-4A58-B5F0-C85ADB8D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PUBLIC WORKSHOP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7F262-192D-4BC6-ACA0-60DA5FF7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0CA63-1EB4-4C2E-AB29-60CE0EE9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The flagship workflow makes Hermes concrete.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22571-9D87-4B26-9D00-7A546B91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/account-action-brief turns ServiceNow into a source-backed brief, approved outreach angle, CRM update draft, and review request.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3AB07-00FA-43A0-8E77-B6E55C1A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9E764-C831-4051-9513-3708B466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Start with an account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CC0A7-D8E5-4C89-9408-E31D5A1B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461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Use ServiceNow as a public demo account and define the meeting goal.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908B6-B06E-490D-8F25-EF3D4F1D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DF212-4309-4B31-B2DB-C10B447A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Ground it with You.com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ED57D-E888-4F9E-AEBC-E1E01EBA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461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Search, inspect source pages, and escalate to deeper research when needed.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B4D55-5844-4C3C-8093-EF2123F2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4AEE9-2E60-4266-A8D2-83E2627D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718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Synthesize in Hermes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4962F-F498-43FD-98DD-44486DFC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52800"/>
            <a:ext cx="461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Produce internal and external outputs with source requirements.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03794-BD9C-4564-9D27-AA6E8DF2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3860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81886-B13C-4813-B778-33F78BAC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Review and hand off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3063C-6F45-42F0-A430-DEA610AB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61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NemoClaw checks claims, then Slack and CRM receive drafts for approval.</a:t>
            </a:r>
          </a:p>
        </p:txBody>
      </p:sp>
    </p:spTree>
    <p:extLst>
      <p:ext uri="{BB962C8B-B14F-4D97-AF65-F5344CB8AC3E}">
        <p14:creationId xmlns:p14="http://schemas.microsoft.com/office/powerpoint/2010/main" val="3657958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992D98-A59B-42BC-BB6B-0FAB18B5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6B415-5A69-40D5-B4F0-442340B0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3A4F9-235E-4064-AC48-92172F20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PUBLIC WORKSHOP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9B7C3-4997-44CF-88F9-B16A060A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EF218-CAD3-44BE-8BDF-3B1226BF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Each tool has one job in the 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1AC7C-0081-4BA5-A122-09DC0061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This keeps the session from becoming a tool zoo and lets Hermes remain the operating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D0DF1-AD45-41D3-8053-50B9187C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8AA77-C3A4-4BEF-8F52-F47CE76F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Hermes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E7F40-8F63-42AA-AD2C-959F36B0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Workflow command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1F3F5-CF78-443E-8C7C-D0817D7D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Orchestration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3C942-B985-41E1-B6BF-F7D2E40D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52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Reusable skill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04BF8-F4F9-42E4-8DAE-83595CC1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Pilot package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FEC47-3460-469F-8812-D57D67BE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85750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8CB71-E78C-421E-BE03-6FAA05C2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28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You.com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E5559-3247-4040-AACE-6BB79103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505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Live web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79C86-A4CA-4668-B927-7E03BE86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829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Source inspection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3B0A7-74AE-4C01-B2F2-9E4B075C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152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Research synthesis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558D7-46C5-419C-A7F3-0F3BB55B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76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Freshness signals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EB213-597F-4168-A2A8-4F9B73C4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8A0054-006B-44B4-A247-9AB57695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NemoClaw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94528A-8208-49CF-A826-51793746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Risk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E3AE2B-E653-4F7B-8BEB-32D6A5F8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Approved wording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AB1A37-289C-4C4F-BC6F-64F2420B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52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Review gates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A05321-CFE1-4530-9B11-05292EF2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76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Action limits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900995-6346-469D-8E2C-6245FBA3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85750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4EE1FA-7D12-42E3-9F34-4781E22A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28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GTM stack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56AE25-F150-4BE9-AA9F-23535AD7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505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CRM context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94EE3D-2C83-493A-A2DB-87BEFE45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829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Docs and notes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ADDB28-49B1-4734-AEBB-01A0DC56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52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Team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BB0977-648B-4444-B3A2-CE98AE6E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476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Draft actions</a:t>
            </a:r>
          </a:p>
        </p:txBody>
      </p:sp>
    </p:spTree>
    <p:extLst>
      <p:ext uri="{BB962C8B-B14F-4D97-AF65-F5344CB8AC3E}">
        <p14:creationId xmlns:p14="http://schemas.microsoft.com/office/powerpoint/2010/main" val="1110917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20D0FD-2548-4131-B848-97D51C23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28236-10AB-40A3-B8E1-F3C9AE62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2889A-3256-4043-9ED6-9095D846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PUBLIC WORKSHOP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76D4A-C452-422E-B646-56B73F69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B83D4-8B37-4CCC-ACD7-F0DD19F6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Part 1 creates the first reusable Hermes command.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97345-7FAC-40FB-B0C6-7465514B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audience sees a repeated research task become a named workflow with inputs, source rules, and an output contract.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3DC58-CF8A-4133-A7FB-2F4396DD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71D7F-5921-4BA1-BD15-C3F04EEE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D9FDB-CB9A-47AA-823D-B2366CCD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963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Define the job: account research plus recommended next 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18E69-7D89-43B1-973B-93EC115A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119BD-223E-4EC4-9CEA-6102D9A4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954E8-A6B9-488A-9D69-290E7F0C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963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Create /account-action-brief with account, goal, audience, and output inputs.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1C992-09BB-4676-A2B8-F340AFD4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8FD48-DAE6-421C-A083-36A32158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0AB20-9955-422F-ABAA-E02D4817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963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Use You.com Search, Contents, and Research to ground the brief.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323B1-FDF8-4861-9BE9-5CB95EBA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D5FFB-7ECA-4144-B0FC-FA1443D1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5083C-802F-42B4-90DC-694EEDFC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963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Produce a structured internal account-action brief.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3CC2A-AFCF-4C2D-A39E-AFE435C1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347AE-33A2-48B9-B192-27EDD2A2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C414F2-516C-43FE-8757-EEBAE956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963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Capture the first Hermes workflow card.</a:t>
            </a:r>
          </a:p>
        </p:txBody>
      </p:sp>
    </p:spTree>
    <p:extLst>
      <p:ext uri="{BB962C8B-B14F-4D97-AF65-F5344CB8AC3E}">
        <p14:creationId xmlns:p14="http://schemas.microsoft.com/office/powerpoint/2010/main" val="12778143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942FB3-DD87-4F4A-8069-EA57EAF8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4928C-914A-4EA0-B3A7-317C730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86F02-A765-4046-BFBC-0BB01C3B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PUBLIC WORKSHOP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84A9C-A3ED-4FBA-8777-46A2D100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72443-974C-47A2-BA1B-96CE22C1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Part 2 connects the workflow to real operating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F9BC2-F163-4F5B-9CFB-B4FC21F2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Hermes coordinates the systems teams already use while keeping actions draft-only until reviewed.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437F0-9E53-4461-8720-48F79A8A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2095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2A2A5-F251-4483-B6D6-7067A19E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DD951-848F-4E7F-A41B-C714398B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Account 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0CAC7-19CD-4DCD-92F9-C90DABCC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C3BC8-6BD2-4F7C-A7EA-FD2FB9F6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529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Contacts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3824A-5AA7-4709-9D82-06550592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Draft update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2CC36-D965-4ED1-9B53-EEE8F48E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57500"/>
            <a:ext cx="2095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93378-35B3-4241-85C7-592B8AC1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Docs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B38F9-8F06-49A9-A7DB-ED539332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052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Approved copy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1720A-C5C3-47CA-B01E-166065B7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29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Playbooks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38161-698A-41CA-9C54-D10440E3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529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Case studies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765234-467A-4341-B535-F42BC540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76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Proof points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8A306-44C1-4444-887E-0532877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2095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753240-A20A-4581-93EE-5F1E8EBC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Calls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4AC84-1A65-4F96-B5B6-D55859D7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052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Objections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BAB2D-0294-434A-BE31-CF260734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29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Priorities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BC243-A3B2-4239-BEA3-5F3F3DAE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529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Next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7F2CA3-8C8F-4842-A4CA-D51849B1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76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Stakeholders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BB536B-C7F0-4048-B30F-3845ACEF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2095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B935EA-24DD-4A66-B956-61BAB8F3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28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7486E8-B035-49C5-8EA9-C6DFFE5B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052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Slack/Teams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8510CD-3303-4D06-B40A-71A668C1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29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Approve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7212C5-D8EC-4DF5-91CB-A8107F80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529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C5F115-10B6-49B1-B3EC-815F99A4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76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Reject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E4BCF9-178B-465A-B731-B6FD000F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57500"/>
            <a:ext cx="2095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5B1DE1-6513-4D67-82B1-79927B6E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28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7D107E-2177-4C77-9780-5497B608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052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Outreach draft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EEE00F-0F16-4EA7-BA1B-F3A34D0C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29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CRM draft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669D26-4B89-4B66-BEE8-E112CCEF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529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Tasks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286D21-75DC-4D94-91DE-BBBF9126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76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Owner</a:t>
            </a:r>
          </a:p>
        </p:txBody>
      </p:sp>
    </p:spTree>
    <p:extLst>
      <p:ext uri="{BB962C8B-B14F-4D97-AF65-F5344CB8AC3E}">
        <p14:creationId xmlns:p14="http://schemas.microsoft.com/office/powerpoint/2010/main" val="3309404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06409E-B1BF-4FB3-BB0F-93CD6EEE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5AE97-B65A-4FC2-AB32-8837DD9A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0CE75-7254-45DD-AE9F-54B25BBA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PUBLIC WORKSHOP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96A8F-DF0E-4D08-B0AB-6BE7DA42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466CC-13D6-47E6-97B3-C0826D34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Part 3 answers the governance question directly.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987AD-E903-49DC-B99B-0F015ABB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point is not to automate judgment away. The point is to make tool use, claims, and review rules explicit.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83975-5D3D-47F4-9296-28BC86B2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C46BF-097F-447D-9AB9-A5E4C7FB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4F0EF-5898-4993-9155-E4F3E964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963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Define roles: runner, owner, reviewer, and admin.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F4B7A-E8A9-48E1-9AE7-D87D80C6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7DA93-E8C0-47FE-821B-BCC62F52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6BDCE-CEA8-4FBE-9BD0-F2E3EEBD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963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Expose only the tools the workflow needs.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54E64-B6A1-4F93-A09F-775CDC86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38C65-A0F9-4025-B3C6-4CF8C9A5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F99CA-A901-4A14-8D9A-A638C58B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963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Separate read-only context from draft actions.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9364C4-4F46-4BA5-B03B-D77D77C2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BE67B-48D6-4A23-A7D4-DA562C4D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77F60-C9B7-41F2-AE39-55E0C3FB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963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Use NemoClaw to flag risky claims, sensitive language, and high-risk actions.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F4A074-F3AA-4032-A6BA-377E5D12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1450D0-DE9E-4999-BCD8-6C4FDB0E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B76D80-2ED2-4DCC-9051-249263FC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963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Require human approval before external use.</a:t>
            </a:r>
          </a:p>
        </p:txBody>
      </p:sp>
    </p:spTree>
    <p:extLst>
      <p:ext uri="{BB962C8B-B14F-4D97-AF65-F5344CB8AC3E}">
        <p14:creationId xmlns:p14="http://schemas.microsoft.com/office/powerpoint/2010/main" val="14864033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EDE5B7-9F7F-415D-B5F7-74CDBE34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56A8D-5414-42D7-BBBB-43363540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DF370-A75E-4197-8832-175E65F3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PUBLIC WORKSHOP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33B1C-5C80-4F79-A8DD-65042509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0CC54-7C30-45BB-B894-2D7B824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Part 4 turns the demo into a pilot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45EF7-6538-45BD-B3B1-CC3E0555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Hermes becomes the packaging layer: owner, schema, review gates, metrics, rollout, and expansion backlog.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CA4D7-D6ED-4451-821D-68416CC8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CD1C8-5CA6-408D-B632-A7C913F4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F83E3-D9D0-49D3-8046-3D6648E8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Reusable skill/playbook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ECF30-286F-4D40-8977-50A69C8C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Workflow card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E5042-45BF-41EC-8BC7-CE008951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Output 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7B076-4F75-4F5E-BF51-A6650312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B477C-AA7F-4663-A5E0-90933431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289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Measure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9C45A-04EF-4E42-9C41-AF663CD9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05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Time saved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4BFC5-E68E-47F2-BF22-1520DA5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29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Source coverage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C3DF1-5B97-4D70-8030-F836C972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52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Review turnaround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025BC-A077-4201-9647-9735A8A1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EB3AA-AAE7-4AB2-8F7C-8B5885CA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289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Pilot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99005-45F4-43B1-8D7C-03793B87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05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5 owners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B09A2D-C72C-49C1-969F-448D79F6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29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20 accounts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1254E-5AAF-4485-A206-1E2E1310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52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Two-week rollout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CD423A-2208-408E-8D9C-6AED0468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The attendee leaves with something they can run, not just remember.</a:t>
            </a:r>
          </a:p>
        </p:txBody>
      </p:sp>
    </p:spTree>
    <p:extLst>
      <p:ext uri="{BB962C8B-B14F-4D97-AF65-F5344CB8AC3E}">
        <p14:creationId xmlns:p14="http://schemas.microsoft.com/office/powerpoint/2010/main" val="15916378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676A39-78E7-4092-882C-4E2D45BF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712CD-C7CC-452E-9915-8268B57C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EDCAD-3FFD-43C5-89A9-F745001B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PUBLIC WORKSHOP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A7C19-181D-49CF-9D86-E5F5116A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D60C5-AB5E-44DC-9E1F-B4796073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The live demo follows one clean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C0C2B-4388-4A60-B0D0-44AE9720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Use one account and one workflow so the audience tracks the Hermes lifecycle instead of chasing integrations.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479B0-1F13-4A9B-A0A9-DAEDA8B7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62802-4211-412B-BB6A-CCFCC589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Run command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5B283-AD33-42FA-B0E4-BAEA1A7A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/account-action-brief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BEAC7-F599-47A6-BE2D-1923AE3C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0A2B7-146D-44FB-AC04-7DF26AF9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003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2FBE5-D139-4031-BD78-A785D44A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03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Gather 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A35EE-CDF3-409C-B971-CAFD510E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00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You.com Search, Contents, 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284D4-14FD-4816-B1D7-AEC060AA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243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9509E-5D77-4F4F-8A91-5FB624F5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003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3A03A-899E-4967-A0AD-EB4942FD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003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Add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6EE6D-F407-4902-96F5-8F4943CC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CRM, docs, calls, support signals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B2466F-163B-4021-8484-F293E9C4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243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A2F78-7392-4C79-AC49-9B4B04E6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3A2F4-B37D-4EBA-9D81-3A8977E8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Synthesize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675707-6D59-4459-A845-626D2DD5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Internal brief and external draft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49FA68-49F4-480E-80AE-B8FC028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41AC7-DB5E-4E12-AD74-E6AAA7F9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4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54F818-6A1A-4FE7-9E51-7A451C89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481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FBDCF9-B718-4893-A3BD-CFFEE6DC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482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NemoClaw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6EBE46-7033-4F31-964F-0D8B0CDC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721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9BAA5B-8376-493D-8664-A6CDB3BD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4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27FCF2-B065-4209-A977-52C7AFE3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Hand off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B370A5-B306-4E94-9954-E0C9F90D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482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Slack request and CRM draft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EE5471-5ED5-4BEA-8308-BB17E45A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721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852789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408B67-5A1D-411E-B43E-8887C739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74884-62B1-4D50-8271-A1CC0032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28520-6BC9-4E74-81C7-075A35E8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PUBLIC WORKSHOP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96D70-3591-41ED-BF0F-5594A778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EB246-CE8D-40C5-9B43-0743571C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Every section produces an artifact.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CABA9-CC54-4216-9335-76BAD09E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artifacts are what make the workshop operational and conversion-ready.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2BF8D-E405-4C77-BAE9-861AF4CC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2571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41358-52E3-4908-A68E-6DC09CCF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Workflow card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CE435-8921-4450-AA0A-29F5F25B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Command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43461-F683-4BBF-B023-D8A771DA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9E704-D6CA-42A4-88FE-83DA279F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529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Outputs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1AFDC-052A-42CF-B084-A5ABE879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5B6A2-6D62-4151-BBFF-32CEBAA7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57500"/>
            <a:ext cx="2571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07FC7-E8A4-476D-A0FF-1C6E6527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289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Connector 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E39C4-FED7-49D1-B4CF-22F3E9D3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05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978D9-F9F7-420F-83E5-D577B040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290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Read/write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DE8A9-8988-4649-8376-2A64A86D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529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Data boundaries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123C3F-A109-48EA-92C3-466EE636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76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Reviewer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743589-19DF-4D52-8C61-BFD9FFE3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2571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4AEF4-390B-4FD8-89CF-265E58C1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289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Governance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5BF48-7EF3-4F74-AE76-40D66C4D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05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Roles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6C0155-1074-4311-80DB-1D29CC8D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Tool 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88680E-BF6A-4725-9297-2A355294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29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NemoClaw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D0FDE1-4BC1-42F7-B87A-4A7366E3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Approval states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37B0C1-FA12-405C-A28C-1A3733AB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57500"/>
            <a:ext cx="2571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481CBF-37E7-40B5-B8AD-F287A9E6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289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Pilot 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F32009-E0A3-4633-A9B9-6DC22102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05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Cohort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92414D-AD98-4E58-A7DA-2D083892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290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Metrics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CCBC41-B033-4830-8A4F-E83C610B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529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Timeline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9FD957-76DA-423C-8967-FECF3EE8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76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Expansion path</a:t>
            </a:r>
          </a:p>
        </p:txBody>
      </p:sp>
    </p:spTree>
    <p:extLst>
      <p:ext uri="{BB962C8B-B14F-4D97-AF65-F5344CB8AC3E}">
        <p14:creationId xmlns:p14="http://schemas.microsoft.com/office/powerpoint/2010/main" val="3196688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C54D93-DFEB-41C5-8677-916CCE94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B4DC5-4A8E-401D-9BFD-26FD845F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71E62-2E19-4654-B467-1C50C78C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PUBLIC WORKSHOP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F2C47-EFD5-42BF-ADF0-2CD8267A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83A6C-5C9F-49ED-97B2-2C2D2C2A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Carrying out the workshop is a three-phase motion.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B1C9D-7C1D-4D7E-8AE2-0970D847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event should qualify pilot intent before, create artifacts during, and convert momentum after.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2F7E6-1883-4510-B8F1-780A51A4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7110F-578E-4049-BF9C-6E05062A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E9265-0382-4481-8018-1F89A4F1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Finalize promise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463CB-7430-40A7-8625-ACEF9A67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Collect workflow intent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FDBE8-5A21-48FE-8304-72ED326F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Prepare demo assets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3622F-CE8A-41F9-A48C-0021126F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Send templates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0FEF6-8CBF-4C2A-AD48-8F7B1D2F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669D9-B7E0-45ED-84D1-3B38A117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During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BACFF-8CEA-4E46-96E7-EFAE573B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29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Run one flagship 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56FE07-77B8-48BB-8B01-62362C96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52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Pause at decisions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45201D-4D55-43E5-8EA7-22165F3D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76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Capture questions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52824-795F-4CBD-BD20-AE00AB05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Build pilot cards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4590A-EEC3-4DD9-99B5-6D0504EC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C62185-DB76-4604-B94A-336CFB26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52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After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27E8D-1639-4209-8AF0-715CE1A2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Send deck and templates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9A43B0-5793-4B4E-8AD3-6B763F5E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52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Book workflow reviews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10674-FCE6-4586-8CD6-F8880C14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76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Qualify pilots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47B1E0-AFB2-45CA-9719-334002B4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00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Start API/MCP conversations</a:t>
            </a:r>
          </a:p>
        </p:txBody>
      </p:sp>
    </p:spTree>
    <p:extLst>
      <p:ext uri="{BB962C8B-B14F-4D97-AF65-F5344CB8AC3E}">
        <p14:creationId xmlns:p14="http://schemas.microsoft.com/office/powerpoint/2010/main" val="704078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B7786C-4504-42F7-B66F-9DE37B5C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EB931-83AB-4382-8810-13271AA2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B013D-9EDE-4B11-AFF1-8E25F738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PUBLIC WORKSHOP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43619-CB06-4780-9917-9050A57D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98398-E373-4746-A766-59C2349F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The series can run in four parts or two sessions.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52819-3196-46F4-94D1-7074C761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Four parts gives Hermes more room to be the hero. Two sessions works when calendar space is tight.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7629F-535E-4062-83DE-C2582061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9FB35-1FBC-4761-BFD4-51D26207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Four-part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B8284-5A12-4B8B-83F0-D1EE6543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Build the first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F91E9-A0A4-4C26-9B8F-1D4355EC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Connect the GTM stack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E7121-0858-4488-B02F-6C35DFD8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Govern the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96017-B0DA-4D81-98AB-306AB0FB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Package and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ED2F2-28A8-4426-9DC1-012C64B7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53182-7D59-4002-A9AB-31414734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527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Two-session 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9B4C7-3367-4C18-98F9-DF223B89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Session 1: build and connect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0C6F4-0513-4BB5-85F2-1226C732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528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Session 2: govern and package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A5773-6846-463A-AFAB-3D6E2326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767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Use the same flagship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E9AEF6-0E72-4223-B9CB-186DF4B4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005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Keep adjacent use cases as hints</a:t>
            </a:r>
          </a:p>
        </p:txBody>
      </p:sp>
    </p:spTree>
    <p:extLst>
      <p:ext uri="{BB962C8B-B14F-4D97-AF65-F5344CB8AC3E}">
        <p14:creationId xmlns:p14="http://schemas.microsoft.com/office/powerpoint/2010/main" val="1205186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4E7667-DA8A-4B41-B2D5-866F74B6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6F870-81ED-4009-8AF6-247A816A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0427B-6A34-412F-AD62-7F066296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PUBLIC WORKSHOP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7A494-DC3F-4C08-8102-79425794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B131E-9AD7-41F5-88DF-6CEEC53C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The follow-up motion should ask for one named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D3EFB-0BF4-4ED7-BEA2-D7849A5D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That is the clearest signal that the attendee is ready for a pilot conversation.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65D74-9EF6-453D-BD2C-28C4F662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09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CC980-D894-4821-A02B-3AA9FEC8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42194-0A33-4CD1-93A7-06641D14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982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Which repeated workflow do you want to make reusable?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70DD5-590B-4084-A542-582A4402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09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C4CA0-04E0-4229-B1B7-F6D7121E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4BB4D-6444-4B13-BD17-65E7504C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982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Which systems need to be connected?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7FCD2-AFF0-4CAD-B2E0-D81BD6EA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09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924FF-614C-47F5-8573-74B3A58E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84C69-790C-4507-B763-8D3F87B7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982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Is the workflow internal-only or external-facing?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0D5D2-BC95-4F66-B70B-8AFC42CE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09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E24F0-6DB2-4436-9285-C2620BD6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763AC-D4C0-41F1-AE15-9773B141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982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Who owns review and governance?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A7B66-870C-4206-8DB5-328230C2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09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18DC22-14AE-490C-88EE-631502D1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03923-D5A2-4C2D-9887-730F6BBF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982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What would make a two-week pilot successful?</a:t>
            </a:r>
          </a:p>
        </p:txBody>
      </p:sp>
    </p:spTree>
    <p:extLst>
      <p:ext uri="{BB962C8B-B14F-4D97-AF65-F5344CB8AC3E}">
        <p14:creationId xmlns:p14="http://schemas.microsoft.com/office/powerpoint/2010/main" val="16423630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BCB511-9E6F-4505-98B0-073935E7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HERMES WORKFLOW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F7390-F79B-47FD-9677-32F3E8BB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565DD-0578-45AB-B40D-9FEEF0F7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F9A96-03AD-48B0-B24C-7D4DA92F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1F1FE-B4AC-48A1-B7B8-AFCD4CFC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742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Bring one workflow your team already runs manually.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40B42-7D58-4732-AAFB-4E8BAA99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We will map the sources, tools, review rules, and pilot plan needed to make it reusable.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532E1-D666-4D10-B027-4670E679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4789A-CC4B-437E-9DF2-17566E1E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Register to build a governed Hermes workflow your team can pilot.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284EF-B256-4945-89B1-E2583FB0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95400"/>
            <a:ext cx="2857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D0BA4-333B-4BE8-B255-41E9A312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66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Leave with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C3497-6EA8-4306-92EA-EF5193A7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43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Workflow card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14BA8-6A0D-44F3-B552-92F00129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66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Connector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7235F-CF3D-4596-AAB4-A56F923C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90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Governance checklist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5EFCF-34C8-42AD-A333-C194D409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Review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85C9A-85BF-4E24-87BB-84F2C36F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Pilot plan</a:t>
            </a:r>
          </a:p>
        </p:txBody>
      </p:sp>
    </p:spTree>
    <p:extLst>
      <p:ext uri="{BB962C8B-B14F-4D97-AF65-F5344CB8AC3E}">
        <p14:creationId xmlns:p14="http://schemas.microsoft.com/office/powerpoint/2010/main" val="1866590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2026-07-02T07:26:20.8150000Z</dcterms:created>
  <dcterms:modified xsi:type="dcterms:W3CDTF">2026-07-02T07:26:20.8150000Z</dcterms:modified>
</coreProperties>
</file>